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Markus Mustermann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Solution / Cloud Architect &amp; Full Stack Developer​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markus</a:t>
            </a:r>
            <a:r>
              <a:rPr dirty="0"/>
              <a:t>@</a:t>
            </a:r>
            <a:r>
              <a:rPr lang="de-CH" dirty="0"/>
              <a:t>mycv</a:t>
            </a:r>
            <a:r>
              <a:rPr dirty="0"/>
              <a:t>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Full Stack Cloud Native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Project Management</a:t>
            </a:r>
          </a:p>
          <a:p>
            <a:pPr algn="l">
              <a:defRPr sz="1000" b="0">
                <a:latin typeface="Graphik Regular"/>
              </a:defRPr>
            </a:pPr>
            <a:r>
              <a:t>•    Stakeholder &amp; RAID management</a:t>
            </a:r>
          </a:p>
          <a:p>
            <a:pPr algn="l">
              <a:defRPr sz="1000" b="0">
                <a:latin typeface="Graphik Regular"/>
              </a:defRPr>
            </a:pPr>
            <a:r>
              <a:t>•    Microservices, API Design</a:t>
            </a:r>
          </a:p>
          <a:p>
            <a:pPr algn="l">
              <a:defRPr sz="1000" b="0">
                <a:latin typeface="Graphik Regular"/>
              </a:defRPr>
            </a:pPr>
            <a:r>
              <a:t>•    Agile (SAFe certifications)</a:t>
            </a:r>
          </a:p>
          <a:p>
            <a:pPr algn="l">
              <a:defRPr sz="1000" b="0">
                <a:latin typeface="Graphik Regular"/>
              </a:defRPr>
            </a:pPr>
            <a:r>
              <a:t>•    Java, Kotlin</a:t>
            </a:r>
          </a:p>
          <a:p>
            <a:pPr algn="l">
              <a:defRPr sz="1000" b="0">
                <a:latin typeface="Graphik Regular"/>
              </a:defRPr>
            </a:pPr>
            <a:r>
              <a:t>•    Spring(-Boot)</a:t>
            </a:r>
          </a:p>
          <a:p>
            <a:pPr algn="l">
              <a:defRPr sz="1000" b="0">
                <a:latin typeface="Graphik Regular"/>
              </a:defRPr>
            </a:pPr>
            <a:r>
              <a:t>•    React, Typescript, HTML5</a:t>
            </a:r>
          </a:p>
          <a:p>
            <a:pPr algn="l">
              <a:defRPr sz="1000" b="0">
                <a:latin typeface="Graphik Regular"/>
              </a:defRPr>
            </a:pPr>
            <a:r>
              <a:t>•    DBMS: Oracle, MySQL, Postgres</a:t>
            </a:r>
          </a:p>
          <a:p>
            <a:pPr algn="l">
              <a:defRPr sz="1000" b="0">
                <a:latin typeface="Graphik Regular"/>
              </a:defRPr>
            </a:pPr>
            <a:r>
              <a:t>•    Kubernetes, Helm</a:t>
            </a:r>
          </a:p>
          <a:p>
            <a:pPr algn="l">
              <a:defRPr sz="1000" b="0">
                <a:latin typeface="Graphik Regular"/>
              </a:defRPr>
            </a:pPr>
            <a:r>
              <a:t>•    REST, SOAP, Kafka, MQ, WebSockets</a:t>
            </a:r>
          </a:p>
          <a:p>
            <a:pPr algn="l">
              <a:defRPr sz="1000" b="0">
                <a:latin typeface="Graphik Regular"/>
              </a:defRPr>
            </a:pPr>
            <a:r>
              <a:t>•    Jenkins, Gitlab,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Banking</a:t>
            </a:r>
          </a:p>
          <a:p>
            <a:pPr>
              <a:defRPr sz="1000" b="0">
                <a:latin typeface="Graphik Regular"/>
              </a:defRPr>
            </a:pPr>
            <a:r>
              <a:t>•    Financial Services</a:t>
            </a:r>
          </a:p>
          <a:p>
            <a:pPr>
              <a:defRPr sz="1000" b="0">
                <a:latin typeface="Graphik Regular"/>
              </a:defRPr>
            </a:pPr>
            <a:r>
              <a:t>•    Utilities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>Markus</a:t>
            </a:r>
            <a:r>
              <a:rPr dirty="0"/>
              <a:t> is a seasoned software development professional with </a:t>
            </a:r>
            <a:r>
              <a:rPr b="1" dirty="0"/>
              <a:t>8 years of experience</a:t>
            </a:r>
            <a:r>
              <a:rPr dirty="0"/>
              <a:t> in roles ranging from </a:t>
            </a:r>
            <a:r>
              <a:rPr b="1" dirty="0"/>
              <a:t>Technical Lead</a:t>
            </a:r>
            <a:r>
              <a:rPr dirty="0"/>
              <a:t> to </a:t>
            </a:r>
            <a:r>
              <a:rPr b="1" dirty="0"/>
              <a:t>Solution Architect</a:t>
            </a:r>
            <a:r>
              <a:rPr dirty="0"/>
              <a:t>. He has demonstrated his expertise across various industries, including finance and utilities, leading both </a:t>
            </a:r>
            <a:r>
              <a:rPr b="1" dirty="0"/>
              <a:t>local and global teams</a:t>
            </a:r>
            <a:r>
              <a:rPr dirty="0"/>
              <a:t> across diverse geographies such as the Slovak Republic, Philippines, Brazil, India, Finland, Switzerland and the US. </a:t>
            </a:r>
            <a:r>
              <a:rPr lang="de-CH"/>
              <a:t>Markus’s</a:t>
            </a:r>
            <a:r>
              <a:t> </a:t>
            </a:r>
            <a:r>
              <a:rPr dirty="0"/>
              <a:t>ability to </a:t>
            </a:r>
            <a:r>
              <a:rPr b="1" dirty="0"/>
              <a:t>bridge the gap between technical execution and business strategy</a:t>
            </a:r>
            <a:r>
              <a:rPr dirty="0"/>
              <a:t> has made him a key player in numerous high-impact projects.
</a:t>
            </a:r>
            <a:r>
              <a:rPr lang="de-CH" dirty="0"/>
              <a:t>Markus’s</a:t>
            </a:r>
            <a:r>
              <a:rPr dirty="0"/>
              <a:t> </a:t>
            </a:r>
            <a:r>
              <a:rPr b="1" dirty="0"/>
              <a:t>analytical nature</a:t>
            </a:r>
            <a:r>
              <a:rPr dirty="0"/>
              <a:t>, combined with his </a:t>
            </a:r>
            <a:r>
              <a:rPr b="1" dirty="0"/>
              <a:t>excellent communication skills</a:t>
            </a:r>
            <a:r>
              <a:rPr dirty="0"/>
              <a:t>, has positioned him as a favored point of contact for both technical and business stakeholders. His </a:t>
            </a:r>
            <a:r>
              <a:rPr b="1" dirty="0"/>
              <a:t>versatility</a:t>
            </a:r>
            <a:r>
              <a:rPr dirty="0"/>
              <a:t> and </a:t>
            </a:r>
            <a:r>
              <a:rPr b="1" dirty="0"/>
              <a:t>leadership</a:t>
            </a:r>
            <a:r>
              <a:rPr dirty="0"/>
              <a:t> across a wide range of projects and industries have made him a critical resource in driving </a:t>
            </a:r>
            <a:r>
              <a:rPr b="1" dirty="0"/>
              <a:t>technological transformation</a:t>
            </a:r>
            <a:r>
              <a:rPr dirty="0"/>
              <a:t> and </a:t>
            </a:r>
            <a:r>
              <a:rPr b="1" dirty="0"/>
              <a:t>delivering strategic solutions</a:t>
            </a:r>
            <a:r>
              <a:rPr dirty="0"/>
              <a:t> at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AWS Certified Developer - Associate</a:t>
            </a:r>
          </a:p>
          <a:p>
            <a:pPr>
              <a:defRPr sz="1000" b="0">
                <a:latin typeface="Graphik Regular"/>
              </a:defRPr>
            </a:pPr>
            <a:r>
              <a:t>•    AWS Certified Cloud Practitioner</a:t>
            </a:r>
          </a:p>
          <a:p>
            <a:pPr>
              <a:defRPr sz="1000" b="0">
                <a:latin typeface="Graphik Regular"/>
              </a:defRPr>
            </a:pPr>
            <a:r>
              <a:t>•    Azure Fundamentals (AZ-900)​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English (C2)​</a:t>
            </a:r>
          </a:p>
          <a:p>
            <a:pPr>
              <a:defRPr sz="1000" b="0">
                <a:latin typeface="Graphik Regular"/>
              </a:defRPr>
            </a:pPr>
            <a:r>
              <a:t>•    German (C2)​</a:t>
            </a:r>
          </a:p>
          <a:p>
            <a:pPr>
              <a:defRPr sz="1000" b="0">
                <a:latin typeface="Graphik Regular"/>
              </a:defRPr>
            </a:pPr>
            <a:r>
              <a:t>•    French (C2)​</a:t>
            </a:r>
          </a:p>
          <a:p>
            <a:pPr>
              <a:defRPr sz="1000" b="0">
                <a:latin typeface="Graphik Regular"/>
              </a:defRPr>
            </a:pPr>
            <a:r>
              <a:t>•    Dutch (Native)​</a:t>
            </a:r>
          </a:p>
          <a:p>
            <a:pPr>
              <a:defRPr sz="1000" b="0">
                <a:latin typeface="Graphik Regular"/>
              </a:defRPr>
            </a:pPr>
            <a:r>
              <a:t>•    Luxembourgish (Native)​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Major Swiss Bank, Zurich - Technical Expert (01/2025 – 03/2025)</a:t>
            </a:r>
          </a:p>
          <a:p>
            <a:pPr>
              <a:defRPr sz="1000">
                <a:latin typeface="Graphik Regular"/>
              </a:defRPr>
            </a:pPr>
            <a:r>
              <a:t>•    Bring the technical and architectural perspective in the creation of a questionnaire for a potential solution replacement in the area of pension funds, and a subsequent evaluation of the provided RfP.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Health insurances, Zurich - Technical Expert (09/2024 – 12/2024)</a:t>
            </a:r>
          </a:p>
          <a:p>
            <a:pPr>
              <a:defRPr sz="1000">
                <a:latin typeface="Graphik Regular"/>
              </a:defRPr>
            </a:pPr>
            <a:r>
              <a:t>•    Leading a team in Bratislava to bring an on-premise product to AWS.</a:t>
            </a:r>
          </a:p>
          <a:p>
            <a:pPr>
              <a:defRPr sz="1000">
                <a:latin typeface="Graphik Regular"/>
              </a:defRPr>
            </a:pPr>
            <a:r>
              <a:t>•    Create architectures of the new cloud solution and reporing to client leadership.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Medium-Sized Swiss Bank, Zurich - Technical Expert (07/2024 – 08/2024)</a:t>
            </a:r>
          </a:p>
          <a:p>
            <a:pPr>
              <a:defRPr sz="1000">
                <a:latin typeface="Graphik Regular"/>
              </a:defRPr>
            </a:pPr>
            <a:r>
              <a:t>•    Perform an end-to-end SDLC assessment, identify weaknesses, and develop a strategic timeline for measurable improvements.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Swiss Utilities Company, Zug - Workstream Lead / Solution Architecture Lead (02/2023 – 07/2024)</a:t>
            </a:r>
          </a:p>
          <a:p>
            <a:pPr>
              <a:defRPr sz="1000">
                <a:latin typeface="Graphik Regular"/>
              </a:defRPr>
            </a:pPr>
            <a:r>
              <a:t>•    Lead architect for multiple teams in US, India and Finland to create high-level and detailed architectural designs.</a:t>
            </a:r>
          </a:p>
          <a:p>
            <a:pPr>
              <a:defRPr sz="1000">
                <a:latin typeface="Graphik Regular"/>
              </a:defRPr>
            </a:pPr>
            <a:r>
              <a:t>•    Workstream Lead of over 20 developers for development of architected solution.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11, Kafka, Angular, C#, PostgreSQL, Enterprise Architect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Major Swiss Bank, Zurich - Development Lead / Full Stack Senior Engineer (08/2020 – 02/2023)</a:t>
            </a:r>
          </a:p>
          <a:p>
            <a:pPr>
              <a:defRPr sz="1000">
                <a:latin typeface="Graphik Regular"/>
              </a:defRPr>
            </a:pPr>
            <a:r>
              <a:t>•    Lead a high-performance team in Zurich and Bratislava</a:t>
            </a:r>
          </a:p>
          <a:p>
            <a:pPr>
              <a:defRPr sz="1000">
                <a:latin typeface="Graphik Regular"/>
              </a:defRPr>
            </a:pPr>
            <a:r>
              <a:t>•    Leading community of practice for over 50 developers</a:t>
            </a:r>
          </a:p>
          <a:p>
            <a:pPr>
              <a:defRPr sz="1000">
                <a:latin typeface="Graphik Regular"/>
              </a:defRPr>
            </a:pPr>
            <a:r>
              <a:t>•    Creation of Proof of Concepts for Kafka integration, Flowable and WebSockets, thus leading the client on modernisation</a:t>
            </a:r>
          </a:p>
          <a:p>
            <a:pPr>
              <a:defRPr sz="1000">
                <a:latin typeface="Graphik Regular"/>
              </a:defRPr>
            </a:pPr>
            <a:r>
              <a:t>•    Responsible for development and maintenance of 9 microservice applications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11/17, Spring Boot, Kubernetes, Helm, Oracle SQL, Flyway, React, Typescript, Jenkins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Major Swiss Bank, Zurich - Development Lead / Solution Architect (09/2019 – 08/2020)</a:t>
            </a:r>
          </a:p>
          <a:p>
            <a:pPr>
              <a:defRPr sz="1000">
                <a:latin typeface="Graphik Regular"/>
              </a:defRPr>
            </a:pPr>
            <a:r>
              <a:t>•    Lead development of Kotlin and Spring Boot backend project, with team in Zurich and Manila</a:t>
            </a:r>
          </a:p>
          <a:p>
            <a:pPr>
              <a:defRPr sz="1000">
                <a:latin typeface="Graphik Regular"/>
              </a:defRPr>
            </a:pPr>
            <a:r>
              <a:t>•    Support of client enterprise architect of designing and detailing application landscape for a lending solution</a:t>
            </a:r>
          </a:p>
          <a:p>
            <a:pPr>
              <a:defRPr sz="1000">
                <a:latin typeface="Graphik Regular"/>
              </a:defRPr>
            </a:pPr>
            <a:r>
              <a:t>•    API design for multiple backend applications and their integration in API gateway</a:t>
            </a:r>
          </a:p>
          <a:p>
            <a:pPr>
              <a:defRPr sz="1000">
                <a:latin typeface="Graphik Regular"/>
              </a:defRPr>
            </a:pPr>
            <a:r>
              <a:t>•    Technology Stack: Kotlin, Spring Boot, Liquibase, Apigee, OpenAPI, Jenkins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Mauquoi, Cédric</cp:lastModifiedBy>
  <cp:revision>12</cp:revision>
  <dcterms:created xsi:type="dcterms:W3CDTF">2013-01-27T09:14:16Z</dcterms:created>
  <dcterms:modified xsi:type="dcterms:W3CDTF">2026-09-29T12:34:19Z</dcterms:modified>
  <cp:category/>
</cp:coreProperties>
</file>