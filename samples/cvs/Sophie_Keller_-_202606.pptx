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14300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225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quoi, Cédric" userId="0c14248f-a2ac-4aeb-b178-f65577d00ce7" providerId="ADAL" clId="{BAD8A624-551D-462C-A575-0E60F015926F}"/>
    <pc:docChg chg="modSld">
      <pc:chgData name="Mauquoi, Cédric" userId="0c14248f-a2ac-4aeb-b178-f65577d00ce7" providerId="ADAL" clId="{BAD8A624-551D-462C-A575-0E60F015926F}" dt="2025-01-23T12:49:01.337" v="0" actId="14826"/>
      <pc:docMkLst>
        <pc:docMk/>
      </pc:docMkLst>
      <pc:sldChg chg="modSp mod">
        <pc:chgData name="Mauquoi, Cédric" userId="0c14248f-a2ac-4aeb-b178-f65577d00ce7" providerId="ADAL" clId="{BAD8A624-551D-462C-A575-0E60F015926F}" dt="2025-01-23T12:49:01.337" v="0" actId="14826"/>
        <pc:sldMkLst>
          <pc:docMk/>
          <pc:sldMk cId="0" sldId="256"/>
        </pc:sldMkLst>
        <pc:picChg chg="mod">
          <ac:chgData name="Mauquoi, Cédric" userId="0c14248f-a2ac-4aeb-b178-f65577d00ce7" providerId="ADAL" clId="{BAD8A624-551D-462C-A575-0E60F015926F}" dt="2025-01-23T12:49:01.337" v="0" actId="14826"/>
          <ac:picMkLst>
            <pc:docMk/>
            <pc:sldMk cId="0" sldId="256"/>
            <ac:picMk id="14" creationId="{00000000-0000-0000-0000-000000000000}"/>
          </ac:picMkLst>
        </pc:picChg>
      </pc:sldChg>
    </pc:docChg>
  </pc:docChgLst>
  <pc:docChgLst>
    <pc:chgData name="Mauquoi, Cédric" userId="0c14248f-a2ac-4aeb-b178-f65577d00ce7" providerId="ADAL" clId="{520AFE78-1323-4B64-A65F-43DB10D6C05E}"/>
    <pc:docChg chg="modSld">
      <pc:chgData name="Mauquoi, Cédric" userId="0c14248f-a2ac-4aeb-b178-f65577d00ce7" providerId="ADAL" clId="{520AFE78-1323-4B64-A65F-43DB10D6C05E}" dt="2024-09-16T11:46:18.343" v="383" actId="555"/>
      <pc:docMkLst>
        <pc:docMk/>
      </pc:docMkLst>
      <pc:sldChg chg="modSp mod">
        <pc:chgData name="Mauquoi, Cédric" userId="0c14248f-a2ac-4aeb-b178-f65577d00ce7" providerId="ADAL" clId="{520AFE78-1323-4B64-A65F-43DB10D6C05E}" dt="2024-09-16T11:46:18.343" v="383" actId="555"/>
        <pc:sldMkLst>
          <pc:docMk/>
          <pc:sldMk cId="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365760"/>
            <a:ext cx="1371600" cy="1371600"/>
          </a:xfrm>
          <a:prstGeom prst="ellipse">
            <a:avLst/>
          </a:prstGeom>
          <a:ln w="25400">
            <a:solidFill>
              <a:srgbClr val="750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"/>
            <a:ext cx="9144000" cy="630942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3200" b="1">
                <a:solidFill>
                  <a:srgbClr val="7500C0"/>
                </a:solidFill>
                <a:latin typeface="Graphik"/>
              </a:defRPr>
            </a:pPr>
            <a:r>
              <a:rPr lang="de-CH" dirty="0"/>
              <a:t>Sophie Keller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828800" y="640080"/>
            <a:ext cx="9144000" cy="457200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2000" b="1"/>
            </a:pPr>
            <a:r>
              <a:rPr dirty="0"/>
              <a:t>Senior Full Stack Developer &amp; Data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05840"/>
            <a:ext cx="9144000" cy="323165"/>
          </a:xfrm>
          <a:prstGeom prst="rect">
            <a:avLst/>
          </a:prstGeom>
          <a:noFill/>
        </p:spPr>
        <p:txBody>
          <a:bodyPr wrap="square" bIns="91440" anchor="t">
            <a:spAutoFit/>
          </a:bodyPr>
          <a:lstStyle/>
          <a:p>
            <a:pPr algn="l">
              <a:defRPr sz="1200" b="1">
                <a:latin typeface="Graphik Regular (Body)"/>
              </a:defRPr>
            </a:pPr>
            <a:r>
              <a:rPr lang="de-CH" dirty="0"/>
              <a:t>sophie@mycv.com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lang="de-DE" dirty="0"/>
              <a:t>Areas of Expertise:</a:t>
            </a:r>
            <a:endParaRPr lang="en-US" dirty="0"/>
          </a:p>
          <a:p>
            <a:pPr algn="l">
              <a:defRPr sz="1000" b="0">
                <a:latin typeface="Graphik Regular"/>
              </a:defRPr>
            </a:pPr>
            <a:r>
              <a:t>•    Full Stack Development</a:t>
            </a:r>
          </a:p>
          <a:p>
            <a:pPr algn="l">
              <a:defRPr sz="1000" b="0">
                <a:latin typeface="Graphik Regular"/>
              </a:defRPr>
            </a:pPr>
            <a:r>
              <a:t>•    Data Pipelines, ETL/ELT</a:t>
            </a:r>
          </a:p>
          <a:p>
            <a:pPr algn="l">
              <a:defRPr sz="1000" b="0">
                <a:latin typeface="Graphik Regular"/>
              </a:defRPr>
            </a:pPr>
            <a:r>
              <a:t>•    Java 17, Python</a:t>
            </a:r>
          </a:p>
          <a:p>
            <a:pPr algn="l">
              <a:defRPr sz="1000" b="0">
                <a:latin typeface="Graphik Regular"/>
              </a:defRPr>
            </a:pPr>
            <a:r>
              <a:t>•    Spring Boot, FastAPI</a:t>
            </a:r>
          </a:p>
          <a:p>
            <a:pPr algn="l">
              <a:defRPr sz="1000" b="0">
                <a:latin typeface="Graphik Regular"/>
              </a:defRPr>
            </a:pPr>
            <a:r>
              <a:t>•    Angular, TypeScript, RxJS</a:t>
            </a:r>
          </a:p>
          <a:p>
            <a:pPr algn="l">
              <a:defRPr sz="1000" b="0">
                <a:latin typeface="Graphik Regular"/>
              </a:defRPr>
            </a:pPr>
            <a:r>
              <a:t>•    Apache Spark, PySpark, Databricks</a:t>
            </a:r>
          </a:p>
          <a:p>
            <a:pPr algn="l">
              <a:defRPr sz="1000" b="0">
                <a:latin typeface="Graphik Regular"/>
              </a:defRPr>
            </a:pPr>
            <a:r>
              <a:t>•    REST, OpenAPI, GraphQL</a:t>
            </a:r>
          </a:p>
          <a:p>
            <a:pPr algn="l">
              <a:defRPr sz="1000" b="0">
                <a:latin typeface="Graphik Regular"/>
              </a:defRPr>
            </a:pPr>
            <a:r>
              <a:t>•    Docker, Kubernetes, Azure</a:t>
            </a:r>
          </a:p>
          <a:p>
            <a:pPr algn="l">
              <a:defRPr sz="1000" b="0">
                <a:latin typeface="Graphik Regular"/>
              </a:defRPr>
            </a:pPr>
            <a:r>
              <a:t>•    GitLab CI, Merge Requests, Code Reviews</a:t>
            </a:r>
          </a:p>
          <a:p>
            <a:pPr algn="l">
              <a:defRPr sz="1000" b="0">
                <a:latin typeface="Graphik Regular"/>
              </a:defRPr>
            </a:pPr>
            <a:r>
              <a:t>•    GitHub Copilot, AI-assisted testing</a:t>
            </a:r>
          </a:p>
          <a:p>
            <a:pPr algn="l">
              <a:defRPr sz="1000" b="0">
                <a:latin typeface="Graphik Regular"/>
              </a:defRPr>
            </a:pPr>
            <a:r>
              <a:t>•    PostgreSQL, Delta Lake</a:t>
            </a:r>
          </a:p>
          <a:p>
            <a:pPr algn="l">
              <a:defRPr sz="1000" b="0">
                <a:latin typeface="Graphik Regular"/>
              </a:defRPr>
            </a:pPr>
            <a:r>
              <a:t>•    Scrum, Kanban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922744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Industries:</a:t>
            </a:r>
            <a:endParaRPr lang="de-DE" dirty="0"/>
          </a:p>
          <a:p>
            <a:pPr>
              <a:defRPr sz="1000" b="0">
                <a:latin typeface="Graphik Regular"/>
              </a:defRPr>
            </a:pPr>
            <a:r>
              <a:t>•    Insurance</a:t>
            </a:r>
          </a:p>
          <a:p>
            <a:pPr>
              <a:defRPr sz="1000" b="0">
                <a:latin typeface="Graphik Regular"/>
              </a:defRPr>
            </a:pPr>
            <a:r>
              <a:t>•    Banking</a:t>
            </a:r>
          </a:p>
          <a:p>
            <a:pPr>
              <a:defRPr sz="1000" b="0">
                <a:latin typeface="Graphik Regular"/>
              </a:defRPr>
            </a:pPr>
            <a:r>
              <a:t>•    Retail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2379" y="1828800"/>
            <a:ext cx="3060000" cy="3554819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Professional Background: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rPr lang="de-CH" dirty="0"/>
              <a:t xml:space="preserve">Sophie is a </a:t>
            </a:r>
            <a:r>
              <a:rPr b="1" dirty="0"/>
              <a:t xml:space="preserve">senior full stack developer</a:t>
            </a:r>
            <a:r>
              <a:rPr lang="de-CH" dirty="0"/>
              <a:t xml:space="preserve"> with </a:t>
            </a:r>
            <a:r>
              <a:rPr b="1" dirty="0"/>
              <a:t xml:space="preserve">11 years of experience</a:t>
            </a:r>
            <a:r>
              <a:rPr lang="de-CH" dirty="0"/>
              <a:t xml:space="preserve"> building web applications and data platforms. She combines </a:t>
            </a:r>
            <a:r>
              <a:rPr b="1" dirty="0"/>
              <a:t xml:space="preserve">Java and Angular</a:t>
            </a:r>
            <a:r>
              <a:rPr lang="de-CH" dirty="0"/>
              <a:t xml:space="preserve"> development with </a:t>
            </a:r>
            <a:r>
              <a:rPr b="1" dirty="0"/>
              <a:t xml:space="preserve">data engineering on Spark and Databricks</a:t>
            </a:r>
            <a:r>
              <a:rPr lang="de-CH" dirty="0"/>
              <a:t xml:space="preserve">, and has delivered end-to-end solutions from ingestion pipelines to customer-facing portals. As a </a:t>
            </a:r>
            <a:r>
              <a:rPr b="1" dirty="0"/>
              <a:t xml:space="preserve">technical lead</a:t>
            </a:r>
            <a:r>
              <a:rPr lang="de-CH" dirty="0"/>
              <a:t xml:space="preserve">, she coaches teams on clean code, code reviews and test automation, and introduced </a:t>
            </a:r>
            <a:r>
              <a:rPr b="1" dirty="0"/>
              <a:t xml:space="preserve">AI-assisted development tooling</a:t>
            </a:r>
            <a:r>
              <a:rPr lang="de-CH" dirty="0"/>
              <a:t xml:space="preserve"> across the SDLC in her last two projects.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379" y="5749236"/>
            <a:ext cx="30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Certifications: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t>•    Databricks Certified Data Engineer Associate</a:t>
            </a:r>
          </a:p>
          <a:p>
            <a:pPr>
              <a:defRPr sz="1000" b="0">
                <a:latin typeface="Graphik Regular"/>
              </a:defRPr>
            </a:pPr>
            <a:r>
              <a:t>•    Microsoft Certified: Azure Developer Associate (AZ-204)</a:t>
            </a:r>
          </a:p>
          <a:p>
            <a:pPr>
              <a:defRPr sz="1000" b="0">
                <a:latin typeface="Graphik Regular"/>
              </a:defRPr>
            </a:pPr>
            <a:r>
              <a:t>•    Professional Scrum Master 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749236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Languages: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t>•    German (Native)</a:t>
            </a:r>
          </a:p>
          <a:p>
            <a:pPr>
              <a:defRPr sz="1000" b="0">
                <a:latin typeface="Graphik Regular"/>
              </a:defRPr>
            </a:pPr>
            <a:r>
              <a:t>•    English (C1)</a:t>
            </a:r>
          </a:p>
          <a:p>
            <a:pPr>
              <a:defRPr sz="1000" b="0">
                <a:latin typeface="Graphik Regular"/>
              </a:defRPr>
            </a:pPr>
            <a:r>
              <a:t>•    French (B1)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71939" y="1828800"/>
            <a:ext cx="540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sz="1200" dirty="0"/>
              <a:t>Relevant Project Experience:</a:t>
            </a:r>
            <a:endParaRPr lang="en-US" sz="1200" dirty="0"/>
          </a:p>
          <a:p>
            <a:pPr>
              <a:spcBef>
                <a:spcPts val="600"/>
              </a:spcBef>
              <a:defRPr sz="1100" b="1">
                <a:latin typeface="Graphik Black (bold)"/>
              </a:defRPr>
            </a:pPr>
            <a:r>
              <a:t>Swiss Insurance Group, Zurich - Technical Lead Full Stack (03/2022 – Current)</a:t>
            </a:r>
          </a:p>
          <a:p>
            <a:pPr>
              <a:defRPr sz="1000">
                <a:latin typeface="Graphik Regular"/>
              </a:defRPr>
            </a:pPr>
            <a:r>
              <a:t>•    Lead a team of 6 developers building a claims portal with Angular and Spring Boot microservices.</a:t>
            </a:r>
          </a:p>
          <a:p>
            <a:pPr>
              <a:defRPr sz="1000">
                <a:latin typeface="Graphik Regular"/>
              </a:defRPr>
            </a:pPr>
            <a:r>
              <a:t>•    Designed ETL pipelines in PySpark on Databricks feeding the claims data warehouse.</a:t>
            </a:r>
          </a:p>
          <a:p>
            <a:pPr>
              <a:defRPr sz="1000">
                <a:latin typeface="Graphik Regular"/>
              </a:defRPr>
            </a:pPr>
            <a:r>
              <a:t>•    Introduced GitHub Copilot and AI-generated unit tests, raising test coverage from 55% to 80%.</a:t>
            </a:r>
          </a:p>
          <a:p>
            <a:pPr>
              <a:defRPr sz="1000">
                <a:latin typeface="Graphik Regular"/>
              </a:defRPr>
            </a:pPr>
            <a:r>
              <a:t>•    Technology Stack: Java 17, Spring Boot, Angular 15, TypeScript, PySpark, Databricks, Azure, AKS</a:t>
            </a:r>
          </a:p>
          <a:p>
            <a:pPr>
              <a:spcBef>
                <a:spcPts val="600"/>
              </a:spcBef>
              <a:defRPr sz="1100" b="1">
                <a:latin typeface="Graphik Black (bold)"/>
              </a:defRPr>
            </a:pPr>
            <a:r>
              <a:t>Private Bank, Geneva - Senior Full Stack Developer (01/2019 – 02/2022)</a:t>
            </a:r>
          </a:p>
          <a:p>
            <a:pPr>
              <a:defRPr sz="1000">
                <a:latin typeface="Graphik Regular"/>
              </a:defRPr>
            </a:pPr>
            <a:r>
              <a:t>•    Developed REST APIs and an Angular front end for a portfolio reporting platform.</a:t>
            </a:r>
          </a:p>
          <a:p>
            <a:pPr>
              <a:defRPr sz="1000">
                <a:latin typeface="Graphik Regular"/>
              </a:defRPr>
            </a:pPr>
            <a:r>
              <a:t>•    Built nightly batch jobs with Spark SQL for performance calculations.</a:t>
            </a:r>
          </a:p>
          <a:p>
            <a:pPr>
              <a:defRPr sz="1000">
                <a:latin typeface="Graphik Regular"/>
              </a:defRPr>
            </a:pPr>
            <a:r>
              <a:t>•    Technology Stack: Java 11, Spring Boot, Angular, Spark SQL, Oracle, OpenShift, GitLab</a:t>
            </a:r>
          </a:p>
          <a:p>
            <a:pPr>
              <a:spcBef>
                <a:spcPts val="600"/>
              </a:spcBef>
              <a:defRPr sz="1100" b="1">
                <a:latin typeface="Graphik Black (bold)"/>
              </a:defRPr>
            </a:pPr>
            <a:r>
              <a:t>Retail Company, Basel - Software Developer (09/2013 – 12/2018)</a:t>
            </a:r>
          </a:p>
          <a:p>
            <a:pPr>
              <a:defRPr sz="1000">
                <a:latin typeface="Graphik Regular"/>
              </a:defRPr>
            </a:pPr>
            <a:r>
              <a:t>•    Developed and maintained the web shop back end and product data interfaces.</a:t>
            </a:r>
          </a:p>
          <a:p>
            <a:pPr>
              <a:defRPr sz="1000">
                <a:latin typeface="Graphik Regular"/>
              </a:defRPr>
            </a:pPr>
            <a:r>
              <a:t>•    Technology Stack: Java, Spring, JavaScript, MySQL, Jenkins, Git</a:t>
            </a:r>
          </a:p>
        </p:txBody>
      </p:sp>
      <p:pic>
        <p:nvPicPr>
          <p:cNvPr id="13" name="Picture 12" descr="2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0"/>
            <a:ext cx="1244600" cy="876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654</Words>
  <Application>Microsoft Office PowerPoint</Application>
  <PresentationFormat>Custom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/>
  <cp:revision>12</cp:revision>
  <dcterms:created xsi:type="dcterms:W3CDTF">2013-01-27T09:14:16Z</dcterms:created>
  <dcterms:modified xsi:type="dcterms:W3CDTF">2026-06-12T09:00:00Z</dcterms:modified>
  <cp:category/>
</cp:coreProperties>
</file>