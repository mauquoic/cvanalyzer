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430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22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quoi, Cédric" userId="0c14248f-a2ac-4aeb-b178-f65577d00ce7" providerId="ADAL" clId="{BAD8A624-551D-462C-A575-0E60F015926F}"/>
    <pc:docChg chg="modSld">
      <pc:chgData name="Mauquoi, Cédric" userId="0c14248f-a2ac-4aeb-b178-f65577d00ce7" providerId="ADAL" clId="{BAD8A624-551D-462C-A575-0E60F015926F}" dt="2025-01-23T12:49:01.337" v="0" actId="14826"/>
      <pc:docMkLst>
        <pc:docMk/>
      </pc:docMkLst>
      <pc:sldChg chg="modSp mod">
        <pc:chgData name="Mauquoi, Cédric" userId="0c14248f-a2ac-4aeb-b178-f65577d00ce7" providerId="ADAL" clId="{BAD8A624-551D-462C-A575-0E60F015926F}" dt="2025-01-23T12:49:01.337" v="0" actId="14826"/>
        <pc:sldMkLst>
          <pc:docMk/>
          <pc:sldMk cId="0" sldId="256"/>
        </pc:sldMkLst>
        <pc:picChg chg="mod">
          <ac:chgData name="Mauquoi, Cédric" userId="0c14248f-a2ac-4aeb-b178-f65577d00ce7" providerId="ADAL" clId="{BAD8A624-551D-462C-A575-0E60F015926F}" dt="2025-01-23T12:49:01.337" v="0" actId="14826"/>
          <ac:picMkLst>
            <pc:docMk/>
            <pc:sldMk cId="0" sldId="256"/>
            <ac:picMk id="14" creationId="{00000000-0000-0000-0000-000000000000}"/>
          </ac:picMkLst>
        </pc:picChg>
      </pc:sldChg>
    </pc:docChg>
  </pc:docChgLst>
  <pc:docChgLst>
    <pc:chgData name="Mauquoi, Cédric" userId="0c14248f-a2ac-4aeb-b178-f65577d00ce7" providerId="ADAL" clId="{520AFE78-1323-4B64-A65F-43DB10D6C05E}"/>
    <pc:docChg chg="modSld">
      <pc:chgData name="Mauquoi, Cédric" userId="0c14248f-a2ac-4aeb-b178-f65577d00ce7" providerId="ADAL" clId="{520AFE78-1323-4B64-A65F-43DB10D6C05E}" dt="2024-09-16T11:46:18.343" v="383" actId="555"/>
      <pc:docMkLst>
        <pc:docMk/>
      </pc:docMkLst>
      <pc:sldChg chg="modSp mod">
        <pc:chgData name="Mauquoi, Cédric" userId="0c14248f-a2ac-4aeb-b178-f65577d00ce7" providerId="ADAL" clId="{520AFE78-1323-4B64-A65F-43DB10D6C05E}" dt="2024-09-16T11:46:18.343" v="383" actId="555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" y="365760"/>
            <a:ext cx="1371600" cy="1371600"/>
          </a:xfrm>
          <a:prstGeom prst="ellipse">
            <a:avLst/>
          </a:prstGeom>
          <a:ln w="2540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630942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3200" b="1">
                <a:solidFill>
                  <a:srgbClr val="7500C0"/>
                </a:solidFill>
                <a:latin typeface="Graphik"/>
              </a:defRPr>
            </a:pPr>
            <a:r>
              <a:rPr lang="de-CH" dirty="0"/>
              <a:t>Tomasz Nowak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640080"/>
            <a:ext cx="9144000" cy="457200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2000" b="1"/>
            </a:pPr>
            <a:r>
              <a:rPr dirty="0"/>
              <a:t>Full Stack Java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9144000" cy="323165"/>
          </a:xfrm>
          <a:prstGeom prst="rect">
            <a:avLst/>
          </a:prstGeom>
          <a:noFill/>
        </p:spPr>
        <p:txBody>
          <a:bodyPr wrap="square" bIns="91440" anchor="t">
            <a:spAutoFit/>
          </a:bodyPr>
          <a:lstStyle/>
          <a:p>
            <a:pPr algn="l">
              <a:defRPr sz="1200" b="1">
                <a:latin typeface="Graphik Regular (Body)"/>
              </a:defRPr>
            </a:pPr>
            <a:r>
              <a:rPr lang="de-CH" dirty="0"/>
              <a:t>tomasz@mycv.com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lang="de-DE" dirty="0"/>
              <a:t>Areas of Expertise:</a:t>
            </a:r>
            <a:endParaRPr lang="en-US" dirty="0"/>
          </a:p>
          <a:p>
            <a:pPr algn="l">
              <a:defRPr sz="1000" b="0">
                <a:latin typeface="Graphik Regular"/>
              </a:defRPr>
            </a:pPr>
            <a:r>
              <a:t>•    Full Stack Development</a:t>
            </a:r>
          </a:p>
          <a:p>
            <a:pPr algn="l">
              <a:defRPr sz="1000" b="0">
                <a:latin typeface="Graphik Regular"/>
              </a:defRPr>
            </a:pPr>
            <a:r>
              <a:t>•    Java, Kotlin</a:t>
            </a:r>
          </a:p>
          <a:p>
            <a:pPr algn="l">
              <a:defRPr sz="1000" b="0">
                <a:latin typeface="Graphik Regular"/>
              </a:defRPr>
            </a:pPr>
            <a:r>
              <a:t>•    Spring Boot, Quarkus</a:t>
            </a:r>
          </a:p>
          <a:p>
            <a:pPr algn="l">
              <a:defRPr sz="1000" b="0">
                <a:latin typeface="Graphik Regular"/>
              </a:defRPr>
            </a:pPr>
            <a:r>
              <a:t>•    Angular, React, TypeScript</a:t>
            </a:r>
          </a:p>
          <a:p>
            <a:pPr algn="l">
              <a:defRPr sz="1000" b="0">
                <a:latin typeface="Graphik Regular"/>
              </a:defRPr>
            </a:pPr>
            <a:r>
              <a:t>•    Microservices, REST, gRPC</a:t>
            </a:r>
          </a:p>
          <a:p>
            <a:pPr algn="l">
              <a:defRPr sz="1000" b="0">
                <a:latin typeface="Graphik Regular"/>
              </a:defRPr>
            </a:pPr>
            <a:r>
              <a:t>•    Kafka, RabbitMQ</a:t>
            </a:r>
          </a:p>
          <a:p>
            <a:pPr algn="l">
              <a:defRPr sz="1000" b="0">
                <a:latin typeface="Graphik Regular"/>
              </a:defRPr>
            </a:pPr>
            <a:r>
              <a:t>•    OpenShift, Kubernetes, Helm</a:t>
            </a:r>
          </a:p>
          <a:p>
            <a:pPr algn="l">
              <a:defRPr sz="1000" b="0">
                <a:latin typeface="Graphik Regular"/>
              </a:defRPr>
            </a:pPr>
            <a:r>
              <a:t>•    GitLab, Merge Requests</a:t>
            </a:r>
          </a:p>
          <a:p>
            <a:pPr algn="l">
              <a:defRPr sz="1000" b="0">
                <a:latin typeface="Graphik Regular"/>
              </a:defRPr>
            </a:pPr>
            <a:r>
              <a:t>•    Oracle, PostgreSQL</a:t>
            </a:r>
          </a:p>
          <a:p>
            <a:pPr algn="l">
              <a:defRPr sz="1000" b="0">
                <a:latin typeface="Graphik Regular"/>
              </a:defRPr>
            </a:pPr>
            <a:r>
              <a:t>•    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922744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Industries:</a:t>
            </a:r>
            <a:endParaRPr lang="de-DE" dirty="0"/>
          </a:p>
          <a:p>
            <a:pPr>
              <a:defRPr sz="1000" b="0">
                <a:latin typeface="Graphik Regular"/>
              </a:defRPr>
            </a:pPr>
            <a:r>
              <a:t>•    Banking</a:t>
            </a:r>
          </a:p>
          <a:p>
            <a:pPr>
              <a:defRPr sz="1000" b="0">
                <a:latin typeface="Graphik Regular"/>
              </a:defRPr>
            </a:pPr>
            <a:r>
              <a:t>•    Insurance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379" y="1828800"/>
            <a:ext cx="3060000" cy="3554819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Professional Background: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rPr lang="de-CH" dirty="0"/>
              <a:t xml:space="preserve">Tomasz is a </a:t>
            </a:r>
            <a:r>
              <a:rPr b="1" dirty="0"/>
              <a:t xml:space="preserve">full stack Java developer</a:t>
            </a:r>
            <a:r>
              <a:rPr lang="de-CH" dirty="0"/>
              <a:t xml:space="preserve"> with </a:t>
            </a:r>
            <a:r>
              <a:rPr b="1" dirty="0"/>
              <a:t xml:space="preserve">7 years of experience</a:t>
            </a:r>
            <a:r>
              <a:rPr lang="de-CH" dirty="0"/>
              <a:t xml:space="preserve"> in </a:t>
            </a:r>
            <a:r>
              <a:rPr b="1" dirty="0"/>
              <a:t xml:space="preserve">microservice architectures</a:t>
            </a:r>
            <a:r>
              <a:rPr lang="de-CH" dirty="0"/>
              <a:t xml:space="preserve"> for financial services. He has delivered </a:t>
            </a:r>
            <a:r>
              <a:rPr b="1" dirty="0"/>
              <a:t xml:space="preserve">Spring Boot back ends with Angular and React front ends</a:t>
            </a:r>
            <a:r>
              <a:rPr lang="de-CH" dirty="0"/>
              <a:t xml:space="preserve"> running on OpenShift, and is experienced in </a:t>
            </a:r>
            <a:r>
              <a:rPr b="1" dirty="0"/>
              <a:t xml:space="preserve">event-driven integration with Kafka</a:t>
            </a:r>
            <a:r>
              <a:rPr lang="de-CH" dirty="0"/>
              <a:t xml:space="preserve">. Tomasz is known for his pragmatic approach and his attention to code quality and reviews.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379" y="5749236"/>
            <a:ext cx="30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Certifications: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Oracle Certified Professional: Java SE 17 Developer</a:t>
            </a:r>
          </a:p>
          <a:p>
            <a:pPr>
              <a:defRPr sz="1000" b="0">
                <a:latin typeface="Graphik Regular"/>
              </a:defRPr>
            </a:pPr>
            <a:r>
              <a:t>•    Red Hat Certified Specialist in OpenShift Application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49236"/>
            <a:ext cx="216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dirty="0"/>
              <a:t>Languages:</a:t>
            </a:r>
            <a:endParaRPr lang="en-US" dirty="0"/>
          </a:p>
          <a:p>
            <a:pPr>
              <a:defRPr sz="1000" b="0">
                <a:latin typeface="Graphik Regular"/>
              </a:defRPr>
            </a:pPr>
            <a:r>
              <a:t>•    Polish (Native)</a:t>
            </a:r>
          </a:p>
          <a:p>
            <a:pPr>
              <a:defRPr sz="1000" b="0">
                <a:latin typeface="Graphik Regular"/>
              </a:defRPr>
            </a:pPr>
            <a:r>
              <a:t>•    English (C1)</a:t>
            </a:r>
          </a:p>
          <a:p>
            <a:pPr>
              <a:defRPr sz="1000" b="0">
                <a:latin typeface="Graphik Regular"/>
              </a:defRPr>
            </a:pPr>
            <a:r>
              <a:t>•    German (B1)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1939" y="1828800"/>
            <a:ext cx="5400000" cy="477054"/>
          </a:xfrm>
          <a:prstGeom prst="rect">
            <a:avLst/>
          </a:prstGeom>
          <a:noFill/>
        </p:spPr>
        <p:txBody>
          <a:bodyPr wrap="square" bIns="91440">
            <a:spAutoFit/>
          </a:bodyPr>
          <a:lstStyle/>
          <a:p>
            <a:pPr>
              <a:defRPr sz="1200" b="1">
                <a:solidFill>
                  <a:srgbClr val="7500C0"/>
                </a:solidFill>
                <a:latin typeface="Graphik"/>
              </a:defRPr>
            </a:pPr>
            <a:r>
              <a:rPr sz="1200" dirty="0"/>
              <a:t>Relevant Project Experience:</a:t>
            </a:r>
            <a:endParaRPr lang="en-US" sz="1200" dirty="0"/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Major Swiss Bank, Zurich - Full Stack Developer (01/2022 – Current)</a:t>
            </a:r>
          </a:p>
          <a:p>
            <a:pPr>
              <a:defRPr sz="1000">
                <a:latin typeface="Graphik Regular"/>
              </a:defRPr>
            </a:pPr>
            <a:r>
              <a:t>•    Developed microservices for payment processing with Spring Boot and Kafka.</a:t>
            </a:r>
          </a:p>
          <a:p>
            <a:pPr>
              <a:defRPr sz="1000">
                <a:latin typeface="Graphik Regular"/>
              </a:defRPr>
            </a:pPr>
            <a:r>
              <a:t>•    Built Angular and React/TypeScript front ends for payment operations teams.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 17, Spring Boot, Kafka, Angular, React, TypeScript, OpenShift, Helm, GitLab</a:t>
            </a:r>
          </a:p>
          <a:p>
            <a:pPr>
              <a:spcBef>
                <a:spcPts val="600"/>
              </a:spcBef>
              <a:defRPr sz="1100" b="1">
                <a:latin typeface="Graphik Black (bold)"/>
              </a:defRPr>
            </a:pPr>
            <a:r>
              <a:t>Insurance Company, Warsaw - Java Developer (04/2017 – 12/2021)</a:t>
            </a:r>
          </a:p>
          <a:p>
            <a:pPr>
              <a:defRPr sz="1000">
                <a:latin typeface="Graphik Regular"/>
              </a:defRPr>
            </a:pPr>
            <a:r>
              <a:t>•    Developed REST and SOAP web services for policy administration.</a:t>
            </a:r>
          </a:p>
          <a:p>
            <a:pPr>
              <a:defRPr sz="1000">
                <a:latin typeface="Graphik Regular"/>
              </a:defRPr>
            </a:pPr>
            <a:r>
              <a:t>•    Migrated monolith modules to Quarkus microservices.</a:t>
            </a:r>
          </a:p>
          <a:p>
            <a:pPr>
              <a:defRPr sz="1000">
                <a:latin typeface="Graphik Regular"/>
              </a:defRPr>
            </a:pPr>
            <a:r>
              <a:t>•    Technology Stack: Java 11, Spring, Quarkus, Oracle, Jenkins, Git</a:t>
            </a:r>
          </a:p>
        </p:txBody>
      </p:sp>
      <p:pic>
        <p:nvPicPr>
          <p:cNvPr id="13" name="Picture 12" descr="2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0"/>
            <a:ext cx="1244600" cy="87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654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/>
  <cp:revision>12</cp:revision>
  <dcterms:created xsi:type="dcterms:W3CDTF">2013-01-27T09:14:16Z</dcterms:created>
  <dcterms:modified xsi:type="dcterms:W3CDTF">2026-04-20T09:00:00Z</dcterms:modified>
  <cp:category/>
</cp:coreProperties>
</file>