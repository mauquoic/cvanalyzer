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41" r:id="rId4"/>
    <p:sldMasterId id="2147483744" r:id="rId5"/>
  </p:sldMasterIdLst>
  <p:notesMasterIdLst>
    <p:notesMasterId r:id="rId7"/>
  </p:notesMasterIdLst>
  <p:handoutMasterIdLst>
    <p:handoutMasterId r:id="rId8"/>
  </p:handoutMasterIdLst>
  <p:sldIdLst>
    <p:sldId id="474" r:id="rId6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681" userDrawn="1">
          <p15:clr>
            <a:srgbClr val="A4A3A4"/>
          </p15:clr>
        </p15:guide>
        <p15:guide id="2" orient="horz" pos="2614" userDrawn="1">
          <p15:clr>
            <a:srgbClr val="A4A3A4"/>
          </p15:clr>
        </p15:guide>
        <p15:guide id="3" pos="3001" userDrawn="1">
          <p15:clr>
            <a:srgbClr val="A4A3A4"/>
          </p15:clr>
        </p15:guide>
        <p15:guide id="4" pos="2802" userDrawn="1">
          <p15:clr>
            <a:srgbClr val="A4A3A4"/>
          </p15:clr>
        </p15:guide>
        <p15:guide id="5" pos="2088" userDrawn="1">
          <p15:clr>
            <a:srgbClr val="A4A3A4"/>
          </p15:clr>
        </p15:guide>
        <p15:guide id="6" pos="529" userDrawn="1">
          <p15:clr>
            <a:srgbClr val="A4A3A4"/>
          </p15:clr>
        </p15:guide>
        <p15:guide id="7" pos="1164" userDrawn="1">
          <p15:clr>
            <a:srgbClr val="A4A3A4"/>
          </p15:clr>
        </p15:guide>
        <p15:guide id="8" pos="892" userDrawn="1">
          <p15:clr>
            <a:srgbClr val="A4A3A4"/>
          </p15:clr>
        </p15:guide>
        <p15:guide id="9" pos="211" userDrawn="1">
          <p15:clr>
            <a:srgbClr val="A4A3A4"/>
          </p15:clr>
        </p15:guide>
        <p15:guide id="10" pos="3954" userDrawn="1">
          <p15:clr>
            <a:srgbClr val="A4A3A4"/>
          </p15:clr>
        </p15:guide>
        <p15:guide id="11" pos="4725" userDrawn="1">
          <p15:clr>
            <a:srgbClr val="A4A3A4"/>
          </p15:clr>
        </p15:guide>
        <p15:guide id="13" pos="5609" userDrawn="1">
          <p15:clr>
            <a:srgbClr val="A4A3A4"/>
          </p15:clr>
        </p15:guide>
        <p15:guide id="14" pos="5820" userDrawn="1">
          <p15:clr>
            <a:srgbClr val="A4A3A4"/>
          </p15:clr>
        </p15:guide>
        <p15:guide id="15" pos="6535" userDrawn="1">
          <p15:clr>
            <a:srgbClr val="A4A3A4"/>
          </p15:clr>
        </p15:guide>
        <p15:guide id="16" pos="6748" userDrawn="1">
          <p15:clr>
            <a:srgbClr val="A4A3A4"/>
          </p15:clr>
        </p15:guide>
        <p15:guide id="17" pos="7469" userDrawn="1">
          <p15:clr>
            <a:srgbClr val="A4A3A4"/>
          </p15:clr>
        </p15:guide>
        <p15:guide id="18" orient="horz" pos="232" userDrawn="1">
          <p15:clr>
            <a:srgbClr val="A4A3A4"/>
          </p15:clr>
        </p15:guide>
        <p15:guide id="19" orient="horz" pos="822" userDrawn="1">
          <p15:clr>
            <a:srgbClr val="A4A3A4"/>
          </p15:clr>
        </p15:guide>
        <p15:guide id="20" orient="horz" pos="1389" userDrawn="1">
          <p15:clr>
            <a:srgbClr val="A4A3A4"/>
          </p15:clr>
        </p15:guide>
        <p15:guide id="22" orient="horz" pos="1956" userDrawn="1">
          <p15:clr>
            <a:srgbClr val="A4A3A4"/>
          </p15:clr>
        </p15:guide>
        <p15:guide id="23" orient="horz" pos="368" userDrawn="1">
          <p15:clr>
            <a:srgbClr val="A4A3A4"/>
          </p15:clr>
        </p15:guide>
        <p15:guide id="24" pos="4885" userDrawn="1">
          <p15:clr>
            <a:srgbClr val="A4A3A4"/>
          </p15:clr>
        </p15:guide>
        <p15:guide id="25" orient="horz" pos="459" userDrawn="1">
          <p15:clr>
            <a:srgbClr val="A4A3A4"/>
          </p15:clr>
        </p15:guide>
        <p15:guide id="26" orient="horz" pos="172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600"/>
    <a:srgbClr val="7E00FF"/>
    <a:srgbClr val="007A7F"/>
    <a:srgbClr val="00BAFF"/>
    <a:srgbClr val="5F0095"/>
    <a:srgbClr val="2800FF"/>
    <a:srgbClr val="A100FF"/>
    <a:srgbClr val="FFEA00"/>
    <a:srgbClr val="00FF7D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9" autoAdjust="0"/>
    <p:restoredTop sz="95820" autoAdjust="0"/>
  </p:normalViewPr>
  <p:slideViewPr>
    <p:cSldViewPr snapToGrid="0">
      <p:cViewPr varScale="1">
        <p:scale>
          <a:sx n="107" d="100"/>
          <a:sy n="107" d="100"/>
        </p:scale>
        <p:origin x="51" y="423"/>
      </p:cViewPr>
      <p:guideLst>
        <p:guide pos="3681"/>
        <p:guide orient="horz" pos="2614"/>
        <p:guide pos="3001"/>
        <p:guide pos="2802"/>
        <p:guide pos="2088"/>
        <p:guide pos="529"/>
        <p:guide pos="1164"/>
        <p:guide pos="892"/>
        <p:guide pos="211"/>
        <p:guide pos="3954"/>
        <p:guide pos="4725"/>
        <p:guide pos="5609"/>
        <p:guide pos="5820"/>
        <p:guide pos="6535"/>
        <p:guide pos="6748"/>
        <p:guide pos="7469"/>
        <p:guide orient="horz" pos="232"/>
        <p:guide orient="horz" pos="822"/>
        <p:guide orient="horz" pos="1389"/>
        <p:guide orient="horz" pos="1956"/>
        <p:guide orient="horz" pos="368"/>
        <p:guide pos="4885"/>
        <p:guide orient="horz" pos="459"/>
        <p:guide orient="horz" pos="172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96" d="100"/>
          <a:sy n="96" d="100"/>
        </p:scale>
        <p:origin x="195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petchi, Stefan" userId="266ef6fe-921a-4482-89d4-5f01bb0e17c5" providerId="ADAL" clId="{5C1406EA-4C19-4D9D-8836-B87816F4C533}"/>
    <pc:docChg chg="undo custSel modSld">
      <pc:chgData name="Copetchi, Stefan" userId="266ef6fe-921a-4482-89d4-5f01bb0e17c5" providerId="ADAL" clId="{5C1406EA-4C19-4D9D-8836-B87816F4C533}" dt="2023-08-30T14:36:55.762" v="1810" actId="20577"/>
      <pc:docMkLst>
        <pc:docMk/>
      </pc:docMkLst>
      <pc:sldChg chg="modSp mod">
        <pc:chgData name="Copetchi, Stefan" userId="266ef6fe-921a-4482-89d4-5f01bb0e17c5" providerId="ADAL" clId="{5C1406EA-4C19-4D9D-8836-B87816F4C533}" dt="2023-08-30T14:36:55.762" v="1810" actId="20577"/>
        <pc:sldMkLst>
          <pc:docMk/>
          <pc:sldMk cId="2324069225" sldId="474"/>
        </pc:sldMkLst>
        <pc:spChg chg="mod">
          <ac:chgData name="Copetchi, Stefan" userId="266ef6fe-921a-4482-89d4-5f01bb0e17c5" providerId="ADAL" clId="{5C1406EA-4C19-4D9D-8836-B87816F4C533}" dt="2023-08-30T14:36:55.762" v="1810" actId="20577"/>
          <ac:spMkLst>
            <pc:docMk/>
            <pc:sldMk cId="2324069225" sldId="474"/>
            <ac:spMk id="21" creationId="{75BF981C-E027-4021-9AB4-EE364478DB7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DF0D1C-6BBB-4D0F-825D-AB5615F85767}" type="datetimeFigureOut">
              <a:rPr lang="en-AU" smtClean="0">
                <a:latin typeface="Arial" panose="020B0604020202020204" pitchFamily="34" charset="0"/>
              </a:rPr>
              <a:t>29/09/2026</a:t>
            </a:fld>
            <a:endParaRPr lang="en-AU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EB3A75-3D45-48A3-A205-F58769396C86}" type="slidenum">
              <a:rPr lang="en-AU" smtClean="0">
                <a:latin typeface="Arial" panose="020B0604020202020204" pitchFamily="34" charset="0"/>
              </a:rPr>
              <a:t>‹#›</a:t>
            </a:fld>
            <a:endParaRPr lang="en-AU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2115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E09F651E-BA7C-4E9C-8918-9342026E9CA9}" type="datetimeFigureOut">
              <a:rPr lang="en-AU" smtClean="0"/>
              <a:pPr/>
              <a:t>29/09/2026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34C2469E-A12A-44A9-9907-2A6DE1949567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24616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&amp;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45017" y="1763729"/>
            <a:ext cx="3583476" cy="4294171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dirty="0" smtClean="0"/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sz="1800" dirty="0" smtClean="0"/>
            </a:lvl4pPr>
            <a:lvl5pPr>
              <a:defRPr lang="en-US" sz="18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256656" y="1763713"/>
            <a:ext cx="3598794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4271392" y="1763713"/>
            <a:ext cx="3642363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85D4FF-3F60-4343-8FBB-91560C9299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2619" y="6381686"/>
            <a:ext cx="770951" cy="19228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900" b="0" i="0">
                <a:solidFill>
                  <a:srgbClr val="919191"/>
                </a:solidFill>
                <a:latin typeface="Arial" panose="020B0604020202020204" pitchFamily="34" charset="0"/>
              </a:defRPr>
            </a:lvl1pPr>
          </a:lstStyle>
          <a:p>
            <a:fld id="{17D800ED-CB1B-4EBC-A0D2-2190AF4D887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703C84C5-9F98-43C7-AA47-83547AF8CB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407924"/>
            <a:ext cx="11430000" cy="13849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AU" sz="900" b="0" i="0">
                <a:solidFill>
                  <a:srgbClr val="919191"/>
                </a:solidFill>
                <a:latin typeface="Arial" panose="020B0604020202020204" pitchFamily="34" charset="0"/>
              </a:defRPr>
            </a:lvl1pPr>
          </a:lstStyle>
          <a:p>
            <a:pPr defTabSz="1087106"/>
            <a:r>
              <a:rPr lang="en-US" dirty="0"/>
              <a:t>© 2017 Accenture. *** Strictly confidential material for use by Accenture &amp; UBS authorised personnel only ***</a:t>
            </a:r>
          </a:p>
        </p:txBody>
      </p:sp>
    </p:spTree>
    <p:extLst>
      <p:ext uri="{BB962C8B-B14F-4D97-AF65-F5344CB8AC3E}">
        <p14:creationId xmlns:p14="http://schemas.microsoft.com/office/powerpoint/2010/main" val="244329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096BACE-7FE7-4D66-89C8-0F77187C0FB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3" imgH="493" progId="TCLayout.ActiveDocument.1">
                  <p:embed/>
                </p:oleObj>
              </mc:Choice>
              <mc:Fallback>
                <p:oleObj name="think-cell Slide" r:id="rId4" imgW="493" imgH="493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096BACE-7FE7-4D66-89C8-0F77187C0F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018" y="332076"/>
            <a:ext cx="10027707" cy="776139"/>
          </a:xfrm>
          <a:prstGeom prst="rect">
            <a:avLst/>
          </a:prstGeom>
        </p:spPr>
        <p:txBody>
          <a:bodyPr vert="horz" lIns="0" tIns="0" rIns="130101" bIns="0" rtlCol="0" anchor="t" anchorCtr="0">
            <a:noAutofit/>
          </a:bodyPr>
          <a:lstStyle/>
          <a:p>
            <a:r>
              <a:rPr lang="en-US"/>
              <a:t>CONTENT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018" y="1764072"/>
            <a:ext cx="11491383" cy="42938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72619" y="6381686"/>
            <a:ext cx="770951" cy="19228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900" b="0" i="0">
                <a:solidFill>
                  <a:srgbClr val="919191"/>
                </a:solidFill>
                <a:latin typeface="Arial" panose="020B0604020202020204" pitchFamily="34" charset="0"/>
              </a:defRPr>
            </a:lvl1pPr>
          </a:lstStyle>
          <a:p>
            <a:fld id="{17D800ED-CB1B-4EBC-A0D2-2190AF4D887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AD6252FA-BB28-4EDA-BF59-14C2416B4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407924"/>
            <a:ext cx="11430000" cy="13849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AU" sz="900" b="0" i="0">
                <a:solidFill>
                  <a:srgbClr val="919191"/>
                </a:solidFill>
                <a:latin typeface="Arial" panose="020B0604020202020204" pitchFamily="34" charset="0"/>
              </a:defRPr>
            </a:lvl1pPr>
          </a:lstStyle>
          <a:p>
            <a:pPr defTabSz="1087106"/>
            <a:r>
              <a:rPr lang="en-US" dirty="0"/>
              <a:t>© 2017 Accenture. *** Strictly confidential material for use by Accenture &amp; UBS authorised personnel only ***</a:t>
            </a:r>
          </a:p>
        </p:txBody>
      </p:sp>
    </p:spTree>
    <p:extLst>
      <p:ext uri="{BB962C8B-B14F-4D97-AF65-F5344CB8AC3E}">
        <p14:creationId xmlns:p14="http://schemas.microsoft.com/office/powerpoint/2010/main" val="2846193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</p:sldLayoutIdLst>
  <p:hf hdr="0" dt="0"/>
  <p:txStyles>
    <p:titleStyle>
      <a:lvl1pPr algn="l" defTabSz="1734634" rtl="0" eaLnBrk="1" latinLnBrk="0" hangingPunct="1">
        <a:lnSpc>
          <a:spcPct val="80000"/>
        </a:lnSpc>
        <a:spcBef>
          <a:spcPct val="0"/>
        </a:spcBef>
        <a:buNone/>
        <a:defRPr sz="3200" b="0" i="0" kern="1200" cap="all" spc="0" baseline="0">
          <a:solidFill>
            <a:schemeClr val="accent1"/>
          </a:solidFill>
          <a:latin typeface="Arial Black" charset="0"/>
          <a:ea typeface="Arial Black" charset="0"/>
          <a:cs typeface="Arial Black" charset="0"/>
        </a:defRPr>
      </a:lvl1pPr>
    </p:titleStyle>
    <p:bodyStyle>
      <a:lvl1pPr marL="0" indent="0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None/>
        <a:defRPr sz="1800" b="1" i="0" kern="1200" cap="none" baseline="0">
          <a:solidFill>
            <a:schemeClr val="tx1"/>
          </a:solidFill>
          <a:latin typeface="+mn-lt"/>
          <a:ea typeface="Arial Black" charset="0"/>
          <a:cs typeface="Arial Black" charset="0"/>
        </a:defRPr>
      </a:lvl1pPr>
      <a:lvl2pPr marL="182875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00" b="1" i="0" kern="1200" cap="none" baseline="0">
          <a:solidFill>
            <a:schemeClr val="tx1"/>
          </a:solidFill>
          <a:latin typeface="+mn-lt"/>
          <a:ea typeface="Arial Black" charset="0"/>
          <a:cs typeface="Arial Black" charset="0"/>
        </a:defRPr>
      </a:lvl2pPr>
      <a:lvl3pPr marL="365751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00" b="1" i="0" kern="1200" cap="none" baseline="0">
          <a:solidFill>
            <a:schemeClr val="tx1"/>
          </a:solidFill>
          <a:latin typeface="+mn-lt"/>
          <a:ea typeface="Arial Black" charset="0"/>
          <a:cs typeface="Arial Black" charset="0"/>
        </a:defRPr>
      </a:lvl3pPr>
      <a:lvl4pPr marL="0" indent="0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None/>
        <a:defRPr sz="1800" b="0" i="0" kern="1200" cap="none" baseline="0">
          <a:solidFill>
            <a:schemeClr val="tx2"/>
          </a:solidFill>
          <a:latin typeface="+mn-lt"/>
          <a:ea typeface="Arial Black" charset="0"/>
          <a:cs typeface="Arial Black" charset="0"/>
        </a:defRPr>
      </a:lvl4pPr>
      <a:lvl5pPr marL="182875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00" b="0" i="0" kern="1200" cap="none" baseline="0">
          <a:solidFill>
            <a:schemeClr val="tx2"/>
          </a:solidFill>
          <a:latin typeface="+mn-lt"/>
          <a:ea typeface="Arial Black" charset="0"/>
          <a:cs typeface="Arial Black" charset="0"/>
        </a:defRPr>
      </a:lvl5pPr>
      <a:lvl6pPr marL="365751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00" b="0" i="0" kern="1200" cap="none" baseline="0">
          <a:solidFill>
            <a:schemeClr val="tx2"/>
          </a:solidFill>
          <a:latin typeface="+mn-lt"/>
          <a:ea typeface="Arial Bold" charset="0"/>
          <a:cs typeface="Arial Bold" charset="0"/>
        </a:defRPr>
      </a:lvl6pPr>
      <a:lvl7pPr marL="0" indent="0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None/>
        <a:defRPr sz="1867" b="1" i="0" kern="1200" cap="none" baseline="0">
          <a:solidFill>
            <a:schemeClr val="tx1"/>
          </a:solidFill>
          <a:latin typeface="Arial Bold" charset="0"/>
          <a:ea typeface="Arial Bold" charset="0"/>
          <a:cs typeface="Arial Bold" charset="0"/>
        </a:defRPr>
      </a:lvl7pPr>
      <a:lvl8pPr marL="182875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67" b="1" i="0" kern="1200" cap="none" baseline="0">
          <a:solidFill>
            <a:schemeClr val="tx1"/>
          </a:solidFill>
          <a:latin typeface="Arial Bold" charset="0"/>
          <a:ea typeface="Arial Bold" charset="0"/>
          <a:cs typeface="Arial Bold" charset="0"/>
        </a:defRPr>
      </a:lvl8pPr>
      <a:lvl9pPr marL="365751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67" b="1" i="0" kern="1200" cap="none" baseline="0">
          <a:solidFill>
            <a:schemeClr val="tx1"/>
          </a:solidFill>
          <a:latin typeface="Arial Bold" charset="0"/>
          <a:ea typeface="Arial Black" charset="0"/>
          <a:cs typeface="Arial Black" charset="0"/>
        </a:defRPr>
      </a:lvl9pPr>
    </p:bodyStyle>
    <p:otherStyle>
      <a:defPPr>
        <a:defRPr lang="en-US"/>
      </a:defPPr>
      <a:lvl1pPr marL="0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1pPr>
      <a:lvl2pPr marL="867317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734634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601951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4pPr>
      <a:lvl5pPr marL="3469269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5pPr>
      <a:lvl6pPr marL="4336586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6pPr>
      <a:lvl7pPr marL="5203903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7pPr>
      <a:lvl8pPr marL="6071220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8pPr>
      <a:lvl9pPr marL="6938537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05">
          <p15:clr>
            <a:srgbClr val="F26B43"/>
          </p15:clr>
        </p15:guide>
        <p15:guide id="2" pos="1152">
          <p15:clr>
            <a:srgbClr val="F26B43"/>
          </p15:clr>
        </p15:guide>
        <p15:guide id="3" pos="211">
          <p15:clr>
            <a:srgbClr val="F26B43"/>
          </p15:clr>
        </p15:guide>
        <p15:guide id="5" orient="horz" pos="2610">
          <p15:clr>
            <a:srgbClr val="F26B43"/>
          </p15:clr>
        </p15:guide>
        <p15:guide id="7" orient="horz" pos="204">
          <p15:clr>
            <a:srgbClr val="F26B43"/>
          </p15:clr>
        </p15:guide>
        <p15:guide id="8" orient="horz" pos="3816">
          <p15:clr>
            <a:srgbClr val="F26B43"/>
          </p15:clr>
        </p15:guide>
        <p15:guide id="9" orient="horz" pos="1111">
          <p15:clr>
            <a:srgbClr val="F26B43"/>
          </p15:clr>
        </p15:guide>
        <p15:guide id="11" pos="7468">
          <p15:clr>
            <a:srgbClr val="F26B43"/>
          </p15:clr>
        </p15:guide>
        <p15:guide id="12" pos="1872">
          <p15:clr>
            <a:srgbClr val="F26B43"/>
          </p15:clr>
        </p15:guide>
        <p15:guide id="13" pos="4884">
          <p15:clr>
            <a:srgbClr val="F26B43"/>
          </p15:clr>
        </p15:guide>
        <p15:guide id="14" pos="5604">
          <p15:clr>
            <a:srgbClr val="F26B43"/>
          </p15:clr>
        </p15:guide>
        <p15:guide id="15" pos="2088">
          <p15:clr>
            <a:srgbClr val="F26B43"/>
          </p15:clr>
        </p15:guide>
        <p15:guide id="16" pos="3954">
          <p15:clr>
            <a:srgbClr val="F26B43"/>
          </p15:clr>
        </p15:guide>
        <p15:guide id="17" pos="6534">
          <p15:clr>
            <a:srgbClr val="F26B43"/>
          </p15:clr>
        </p15:guide>
        <p15:guide id="18" pos="930">
          <p15:clr>
            <a:srgbClr val="F26B43"/>
          </p15:clr>
        </p15:guide>
        <p15:guide id="19" pos="2802">
          <p15:clr>
            <a:srgbClr val="F26B43"/>
          </p15:clr>
        </p15:guide>
        <p15:guide id="20" pos="3024">
          <p15:clr>
            <a:srgbClr val="F26B43"/>
          </p15:clr>
        </p15:guide>
        <p15:guide id="21" pos="3738">
          <p15:clr>
            <a:srgbClr val="F26B43"/>
          </p15:clr>
        </p15:guide>
        <p15:guide id="22" pos="4668">
          <p15:clr>
            <a:srgbClr val="F26B43"/>
          </p15:clr>
        </p15:guide>
        <p15:guide id="23" pos="5820">
          <p15:clr>
            <a:srgbClr val="F26B43"/>
          </p15:clr>
        </p15:guide>
        <p15:guide id="24" pos="6750">
          <p15:clr>
            <a:srgbClr val="F26B43"/>
          </p15:clr>
        </p15:guide>
        <p15:guide id="25" orient="horz" pos="1410">
          <p15:clr>
            <a:srgbClr val="F26B43"/>
          </p15:clr>
        </p15:guide>
        <p15:guide id="26" orient="horz" pos="411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018" y="332076"/>
            <a:ext cx="10027707" cy="776139"/>
          </a:xfrm>
          <a:prstGeom prst="rect">
            <a:avLst/>
          </a:prstGeom>
        </p:spPr>
        <p:txBody>
          <a:bodyPr vert="horz" lIns="0" tIns="0" rIns="130101" bIns="0" rtlCol="0" anchor="t" anchorCtr="0">
            <a:noAutofit/>
          </a:bodyPr>
          <a:lstStyle/>
          <a:p>
            <a:r>
              <a:rPr lang="en-US" dirty="0"/>
              <a:t>CONTENT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018" y="1764072"/>
            <a:ext cx="11491383" cy="42938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7410450" y="6386400"/>
            <a:ext cx="4114800" cy="140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                                                      Copyright © 2018 Accenture. All rights reserved.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639450" y="6386400"/>
            <a:ext cx="216000" cy="140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800ED-CB1B-4EBC-A0D2-2190AF4D887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598530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l" defTabSz="1734634" rtl="0" eaLnBrk="1" latinLnBrk="0" hangingPunct="1">
        <a:lnSpc>
          <a:spcPct val="80000"/>
        </a:lnSpc>
        <a:spcBef>
          <a:spcPct val="0"/>
        </a:spcBef>
        <a:buNone/>
        <a:defRPr sz="3200" b="0" i="0" kern="1200" cap="all" spc="0" baseline="0">
          <a:solidFill>
            <a:schemeClr val="accent1"/>
          </a:solidFill>
          <a:latin typeface="Arial Black" charset="0"/>
          <a:ea typeface="Arial Black" charset="0"/>
          <a:cs typeface="Arial Black" charset="0"/>
        </a:defRPr>
      </a:lvl1pPr>
    </p:titleStyle>
    <p:bodyStyle>
      <a:lvl1pPr marL="0" indent="0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None/>
        <a:defRPr sz="1800" b="1" i="0" kern="1200" cap="none" baseline="0">
          <a:solidFill>
            <a:schemeClr val="tx1"/>
          </a:solidFill>
          <a:latin typeface="+mn-lt"/>
          <a:ea typeface="Arial Black" charset="0"/>
          <a:cs typeface="Arial Black" charset="0"/>
        </a:defRPr>
      </a:lvl1pPr>
      <a:lvl2pPr marL="182875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00" b="1" i="0" kern="1200" cap="none" baseline="0">
          <a:solidFill>
            <a:schemeClr val="tx1"/>
          </a:solidFill>
          <a:latin typeface="+mn-lt"/>
          <a:ea typeface="Arial Black" charset="0"/>
          <a:cs typeface="Arial Black" charset="0"/>
        </a:defRPr>
      </a:lvl2pPr>
      <a:lvl3pPr marL="365751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00" b="1" i="0" kern="1200" cap="none" baseline="0">
          <a:solidFill>
            <a:schemeClr val="tx1"/>
          </a:solidFill>
          <a:latin typeface="+mn-lt"/>
          <a:ea typeface="Arial Black" charset="0"/>
          <a:cs typeface="Arial Black" charset="0"/>
        </a:defRPr>
      </a:lvl3pPr>
      <a:lvl4pPr marL="0" indent="0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None/>
        <a:defRPr sz="1800" b="0" i="0" kern="1200" cap="none" baseline="0">
          <a:solidFill>
            <a:schemeClr val="tx2"/>
          </a:solidFill>
          <a:latin typeface="+mn-lt"/>
          <a:ea typeface="Arial Black" charset="0"/>
          <a:cs typeface="Arial Black" charset="0"/>
        </a:defRPr>
      </a:lvl4pPr>
      <a:lvl5pPr marL="182875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00" b="0" i="0" kern="1200" cap="none" baseline="0">
          <a:solidFill>
            <a:schemeClr val="tx2"/>
          </a:solidFill>
          <a:latin typeface="+mn-lt"/>
          <a:ea typeface="Arial Black" charset="0"/>
          <a:cs typeface="Arial Black" charset="0"/>
        </a:defRPr>
      </a:lvl5pPr>
      <a:lvl6pPr marL="365751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00" b="0" i="0" kern="1200" cap="none" baseline="0">
          <a:solidFill>
            <a:schemeClr val="tx2"/>
          </a:solidFill>
          <a:latin typeface="+mn-lt"/>
          <a:ea typeface="Arial Bold" charset="0"/>
          <a:cs typeface="Arial Bold" charset="0"/>
        </a:defRPr>
      </a:lvl6pPr>
      <a:lvl7pPr marL="0" indent="0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None/>
        <a:defRPr sz="1867" b="1" i="0" kern="1200" cap="none" baseline="0">
          <a:solidFill>
            <a:schemeClr val="tx1"/>
          </a:solidFill>
          <a:latin typeface="Arial Bold" charset="0"/>
          <a:ea typeface="Arial Bold" charset="0"/>
          <a:cs typeface="Arial Bold" charset="0"/>
        </a:defRPr>
      </a:lvl7pPr>
      <a:lvl8pPr marL="182875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67" b="1" i="0" kern="1200" cap="none" baseline="0">
          <a:solidFill>
            <a:schemeClr val="tx1"/>
          </a:solidFill>
          <a:latin typeface="Arial Bold" charset="0"/>
          <a:ea typeface="Arial Bold" charset="0"/>
          <a:cs typeface="Arial Bold" charset="0"/>
        </a:defRPr>
      </a:lvl8pPr>
      <a:lvl9pPr marL="365751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67" b="1" i="0" kern="1200" cap="none" baseline="0">
          <a:solidFill>
            <a:schemeClr val="tx1"/>
          </a:solidFill>
          <a:latin typeface="Arial Bold" charset="0"/>
          <a:ea typeface="Arial Black" charset="0"/>
          <a:cs typeface="Arial Black" charset="0"/>
        </a:defRPr>
      </a:lvl9pPr>
    </p:bodyStyle>
    <p:otherStyle>
      <a:defPPr>
        <a:defRPr lang="en-US"/>
      </a:defPPr>
      <a:lvl1pPr marL="0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1pPr>
      <a:lvl2pPr marL="867317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734634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601951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4pPr>
      <a:lvl5pPr marL="3469269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5pPr>
      <a:lvl6pPr marL="4336586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6pPr>
      <a:lvl7pPr marL="5203903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7pPr>
      <a:lvl8pPr marL="6071220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8pPr>
      <a:lvl9pPr marL="6938537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05" userDrawn="1">
          <p15:clr>
            <a:srgbClr val="F26B43"/>
          </p15:clr>
        </p15:guide>
        <p15:guide id="2" pos="1152" userDrawn="1">
          <p15:clr>
            <a:srgbClr val="F26B43"/>
          </p15:clr>
        </p15:guide>
        <p15:guide id="3" pos="211" userDrawn="1">
          <p15:clr>
            <a:srgbClr val="F26B43"/>
          </p15:clr>
        </p15:guide>
        <p15:guide id="5" orient="horz" pos="2610" userDrawn="1">
          <p15:clr>
            <a:srgbClr val="F26B43"/>
          </p15:clr>
        </p15:guide>
        <p15:guide id="7" orient="horz" pos="204" userDrawn="1">
          <p15:clr>
            <a:srgbClr val="F26B43"/>
          </p15:clr>
        </p15:guide>
        <p15:guide id="8" orient="horz" pos="3816" userDrawn="1">
          <p15:clr>
            <a:srgbClr val="F26B43"/>
          </p15:clr>
        </p15:guide>
        <p15:guide id="9" orient="horz" pos="1111" userDrawn="1">
          <p15:clr>
            <a:srgbClr val="F26B43"/>
          </p15:clr>
        </p15:guide>
        <p15:guide id="11" pos="7468" userDrawn="1">
          <p15:clr>
            <a:srgbClr val="F26B43"/>
          </p15:clr>
        </p15:guide>
        <p15:guide id="12" pos="1872" userDrawn="1">
          <p15:clr>
            <a:srgbClr val="F26B43"/>
          </p15:clr>
        </p15:guide>
        <p15:guide id="13" pos="4884" userDrawn="1">
          <p15:clr>
            <a:srgbClr val="F26B43"/>
          </p15:clr>
        </p15:guide>
        <p15:guide id="14" pos="5604" userDrawn="1">
          <p15:clr>
            <a:srgbClr val="F26B43"/>
          </p15:clr>
        </p15:guide>
        <p15:guide id="15" pos="2088" userDrawn="1">
          <p15:clr>
            <a:srgbClr val="F26B43"/>
          </p15:clr>
        </p15:guide>
        <p15:guide id="16" pos="3954" userDrawn="1">
          <p15:clr>
            <a:srgbClr val="F26B43"/>
          </p15:clr>
        </p15:guide>
        <p15:guide id="17" pos="6534" userDrawn="1">
          <p15:clr>
            <a:srgbClr val="F26B43"/>
          </p15:clr>
        </p15:guide>
        <p15:guide id="18" pos="930" userDrawn="1">
          <p15:clr>
            <a:srgbClr val="F26B43"/>
          </p15:clr>
        </p15:guide>
        <p15:guide id="19" pos="2802" userDrawn="1">
          <p15:clr>
            <a:srgbClr val="F26B43"/>
          </p15:clr>
        </p15:guide>
        <p15:guide id="20" pos="3024" userDrawn="1">
          <p15:clr>
            <a:srgbClr val="F26B43"/>
          </p15:clr>
        </p15:guide>
        <p15:guide id="21" pos="3738" userDrawn="1">
          <p15:clr>
            <a:srgbClr val="F26B43"/>
          </p15:clr>
        </p15:guide>
        <p15:guide id="22" pos="4668" userDrawn="1">
          <p15:clr>
            <a:srgbClr val="F26B43"/>
          </p15:clr>
        </p15:guide>
        <p15:guide id="23" pos="5820" userDrawn="1">
          <p15:clr>
            <a:srgbClr val="F26B43"/>
          </p15:clr>
        </p15:guide>
        <p15:guide id="24" pos="6750" userDrawn="1">
          <p15:clr>
            <a:srgbClr val="F26B43"/>
          </p15:clr>
        </p15:guide>
        <p15:guide id="25" orient="horz" pos="1410" userDrawn="1">
          <p15:clr>
            <a:srgbClr val="F26B43"/>
          </p15:clr>
        </p15:guide>
        <p15:guide id="26" orient="horz" pos="411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696FF283-2B0B-41EE-8B0F-4925BF2EAB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4725" y="2526730"/>
            <a:ext cx="4667014" cy="2022121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100" cap="all" dirty="0">
                <a:solidFill>
                  <a:schemeClr val="accent1"/>
                </a:solidFill>
              </a:rPr>
              <a:t>Professional Background</a:t>
            </a:r>
          </a:p>
          <a:p>
            <a:pPr marL="165600" indent="-165600" defTabSz="1595863">
              <a:spcBef>
                <a:spcPts val="200"/>
              </a:spcBef>
              <a:buSzPct val="100000"/>
              <a:buFont typeface="Arial"/>
              <a:buChar char="•"/>
              <a:defRPr sz="828" b="0"/>
            </a:pPr>
            <a:r>
              <a:rPr lang="en-GB" sz="1050" dirty="0"/>
              <a:t>Manuela has a strong understanding of informatics and computer science holding a B.Sc. in Applied Electronics and years of experience from participating in programming competitions and coding challenges during his youth years.</a:t>
            </a:r>
          </a:p>
          <a:p>
            <a:pPr marL="165600" indent="-165600" defTabSz="1595863">
              <a:spcBef>
                <a:spcPts val="200"/>
              </a:spcBef>
              <a:buSzPct val="100000"/>
              <a:buFont typeface="Arial"/>
              <a:buChar char="•"/>
              <a:defRPr sz="828" b="0"/>
            </a:pPr>
            <a:r>
              <a:rPr lang="en-GB" sz="1050" dirty="0"/>
              <a:t>Furthermore, he has a rich practical experience having been working part-time as a Web and Software Developer since his first year of studies.</a:t>
            </a:r>
          </a:p>
          <a:p>
            <a:pPr marL="165600" indent="-165600" defTabSz="1595863">
              <a:spcBef>
                <a:spcPts val="200"/>
              </a:spcBef>
              <a:buSzPct val="100000"/>
              <a:buFont typeface="Arial"/>
              <a:buChar char="•"/>
              <a:defRPr sz="828" b="0"/>
            </a:pPr>
            <a:r>
              <a:rPr lang="en-GB" sz="1050" dirty="0"/>
              <a:t>Manuela has also studied abroad, in France, where he also moved after finishing his studies and worked as a Full-Stack Developer for almost 2 years before moving to Switzerland and joining Accenture. </a:t>
            </a:r>
          </a:p>
          <a:p>
            <a:pPr marL="165600" indent="-165600" defTabSz="1595863">
              <a:spcBef>
                <a:spcPts val="200"/>
              </a:spcBef>
              <a:buSzPct val="100000"/>
              <a:buFont typeface="Arial"/>
              <a:buChar char="•"/>
              <a:defRPr sz="828" b="0"/>
            </a:pPr>
            <a:r>
              <a:rPr lang="en-GB" sz="1050" dirty="0"/>
              <a:t>He speaks English, French, Romanian and German.</a:t>
            </a:r>
          </a:p>
          <a:p>
            <a:pPr marL="0" lvl="4" indent="0">
              <a:spcBef>
                <a:spcPts val="0"/>
              </a:spcBef>
              <a:spcAft>
                <a:spcPts val="300"/>
              </a:spcAft>
              <a:buNone/>
              <a:defRPr/>
            </a:pP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5018" y="284780"/>
            <a:ext cx="10027707" cy="776139"/>
          </a:xfrm>
        </p:spPr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Manuela </a:t>
            </a:r>
            <a:r>
              <a:rPr lang="en-US" dirty="0" err="1">
                <a:solidFill>
                  <a:schemeClr val="accent4"/>
                </a:solidFill>
              </a:rPr>
              <a:t>Mustermann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33268-6DB0-4E6E-8C9D-99748ED90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9450" y="6672422"/>
            <a:ext cx="216000" cy="1404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D800ED-CB1B-4EBC-A0D2-2190AF4D8872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" name="Footer Placeholder 5">
            <a:extLst>
              <a:ext uri="{FF2B5EF4-FFF2-40B4-BE49-F238E27FC236}">
                <a16:creationId xmlns:a16="http://schemas.microsoft.com/office/drawing/2014/main" id="{77B64B97-47A1-46EA-9AE4-AFFCACBCF2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5526" y="6695282"/>
            <a:ext cx="4114800" cy="1404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Copyright © 2018 Accenture. All rights reserved.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5C274655-14F9-4455-AB70-9C2B7C7DF28F}"/>
              </a:ext>
            </a:extLst>
          </p:cNvPr>
          <p:cNvSpPr txBox="1">
            <a:spLocks/>
          </p:cNvSpPr>
          <p:nvPr/>
        </p:nvSpPr>
        <p:spPr>
          <a:xfrm>
            <a:off x="356756" y="4646024"/>
            <a:ext cx="2573735" cy="1878661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numCol="1" spcCol="18000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73463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all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SKILLS</a:t>
            </a:r>
          </a:p>
          <a:p>
            <a:pPr marL="182875" lvl="4" indent="-182875" defTabSz="1734634">
              <a:lnSpc>
                <a:spcPct val="90000"/>
              </a:lnSpc>
              <a:buClr>
                <a:srgbClr val="000000"/>
              </a:buClr>
              <a:buFont typeface="Arial" charset="0"/>
              <a:buChar char="•"/>
              <a:defRPr/>
            </a:pPr>
            <a:r>
              <a:rPr lang="en-US" sz="1050" dirty="0"/>
              <a:t>Full-Stack Development &amp; </a:t>
            </a:r>
            <a:r>
              <a:rPr lang="en-US" sz="1050" dirty="0">
                <a:solidFill>
                  <a:srgbClr val="000000"/>
                </a:solidFill>
              </a:rPr>
              <a:t>Cloud Native Development</a:t>
            </a:r>
            <a:endParaRPr lang="en-US" sz="1050" dirty="0"/>
          </a:p>
          <a:p>
            <a:pPr marL="182875" lvl="4" indent="-182875" defTabSz="1734634">
              <a:lnSpc>
                <a:spcPct val="90000"/>
              </a:lnSpc>
              <a:buClr>
                <a:srgbClr val="000000"/>
              </a:buClr>
              <a:buFont typeface="Arial" charset="0"/>
              <a:buChar char="•"/>
              <a:defRPr/>
            </a:pPr>
            <a:r>
              <a:rPr lang="en-US" sz="1050" dirty="0"/>
              <a:t>Angular, Node, Typescript, Java, Spring Boot, PHP, Drupal, Symfony</a:t>
            </a:r>
          </a:p>
          <a:p>
            <a:pPr marL="182875" lvl="4" indent="-182875" defTabSz="1734634">
              <a:lnSpc>
                <a:spcPct val="90000"/>
              </a:lnSpc>
              <a:buClr>
                <a:srgbClr val="000000"/>
              </a:buClr>
              <a:buFont typeface="Arial" charset="0"/>
              <a:buChar char="•"/>
              <a:defRPr/>
            </a:pPr>
            <a:r>
              <a:rPr lang="en-US" sz="1050" dirty="0"/>
              <a:t>SQL, GIT</a:t>
            </a:r>
          </a:p>
          <a:p>
            <a:pPr marL="182875" lvl="4" indent="-182875" defTabSz="1734634">
              <a:lnSpc>
                <a:spcPct val="90000"/>
              </a:lnSpc>
              <a:buClr>
                <a:srgbClr val="000000"/>
              </a:buClr>
              <a:buFont typeface="Arial" charset="0"/>
              <a:buChar char="•"/>
              <a:defRPr/>
            </a:pPr>
            <a:r>
              <a:rPr lang="en-US" sz="1050" dirty="0"/>
              <a:t>Agile Methodologies</a:t>
            </a:r>
          </a:p>
          <a:p>
            <a:pPr marL="182875" lvl="4" indent="-182875" defTabSz="1734634">
              <a:lnSpc>
                <a:spcPct val="90000"/>
              </a:lnSpc>
              <a:buClr>
                <a:srgbClr val="000000"/>
              </a:buClr>
              <a:buFont typeface="Arial" charset="0"/>
              <a:buChar char="•"/>
              <a:defRPr/>
            </a:pPr>
            <a:r>
              <a:rPr lang="en-US" sz="1050" dirty="0"/>
              <a:t>Software Design &amp; Architecture</a:t>
            </a:r>
          </a:p>
          <a:p>
            <a:pPr marL="182875" lvl="4" indent="-182875" defTabSz="1734634">
              <a:lnSpc>
                <a:spcPct val="90000"/>
              </a:lnSpc>
              <a:buClr>
                <a:srgbClr val="000000"/>
              </a:buClr>
              <a:buFont typeface="Arial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</a:rPr>
              <a:t>UI Design and User Experience</a:t>
            </a:r>
            <a:endParaRPr lang="en-US" sz="1050" dirty="0"/>
          </a:p>
          <a:p>
            <a:pPr marL="182875" lvl="4" indent="-182875" defTabSz="1734634">
              <a:lnSpc>
                <a:spcPct val="90000"/>
              </a:lnSpc>
              <a:buClr>
                <a:srgbClr val="000000"/>
              </a:buClr>
              <a:buFont typeface="Arial" charset="0"/>
              <a:buChar char="•"/>
              <a:defRPr/>
            </a:pPr>
            <a:r>
              <a:rPr lang="en-US" sz="1050" dirty="0"/>
              <a:t>Team leading social skills and experience</a:t>
            </a:r>
          </a:p>
          <a:p>
            <a:pPr marL="182875" lvl="4" indent="-182875" defTabSz="1734634">
              <a:lnSpc>
                <a:spcPct val="90000"/>
              </a:lnSpc>
              <a:buClr>
                <a:srgbClr val="000000"/>
              </a:buClr>
              <a:buFont typeface="Arial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</a:rPr>
              <a:t>OpenShift, Jenkins</a:t>
            </a:r>
          </a:p>
          <a:p>
            <a:pPr marL="0" marR="0" lvl="4" algn="l" defTabSz="173463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82875" marR="0" lvl="4" indent="-182875" algn="l" defTabSz="173463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027663-BDA3-435C-B05B-82721DF96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0049" y="48377"/>
            <a:ext cx="2009775" cy="571500"/>
          </a:xfrm>
          <a:prstGeom prst="rect">
            <a:avLst/>
          </a:prstGeom>
        </p:spPr>
      </p:pic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A14AF589-7F37-4A63-9C02-3C4009A30815}"/>
              </a:ext>
            </a:extLst>
          </p:cNvPr>
          <p:cNvSpPr txBox="1">
            <a:spLocks/>
          </p:cNvSpPr>
          <p:nvPr/>
        </p:nvSpPr>
        <p:spPr>
          <a:xfrm>
            <a:off x="2975924" y="5731090"/>
            <a:ext cx="3540465" cy="836710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numCol="1" spcCol="18000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73463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all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Industries</a:t>
            </a:r>
          </a:p>
          <a:p>
            <a:pPr marL="183600" lvl="0" indent="-183600" eaLnBrk="0">
              <a:lnSpc>
                <a:spcPct val="90000"/>
              </a:lnSpc>
              <a:buClr>
                <a:srgbClr val="000000"/>
              </a:buClr>
              <a:buFont typeface="Arial" charset="0"/>
              <a:buChar char="•"/>
              <a:defRPr/>
            </a:pPr>
            <a:r>
              <a:rPr lang="en-US" sz="1000" dirty="0">
                <a:cs typeface="Arial" charset="0"/>
              </a:rPr>
              <a:t>Financial Systems</a:t>
            </a:r>
          </a:p>
          <a:p>
            <a:pPr marL="183600" lvl="0" indent="-183600" eaLnBrk="0">
              <a:lnSpc>
                <a:spcPct val="90000"/>
              </a:lnSpc>
              <a:buClr>
                <a:srgbClr val="000000"/>
              </a:buClr>
              <a:buFont typeface="Arial" charset="0"/>
              <a:buChar char="•"/>
              <a:defRPr/>
            </a:pPr>
            <a:r>
              <a:rPr lang="en-US" sz="1000" dirty="0">
                <a:cs typeface="Arial" charset="0"/>
              </a:rPr>
              <a:t>Insurances</a:t>
            </a:r>
          </a:p>
          <a:p>
            <a:pPr marL="183600" lvl="0" indent="-183600" eaLnBrk="0">
              <a:lnSpc>
                <a:spcPct val="90000"/>
              </a:lnSpc>
              <a:buClr>
                <a:srgbClr val="000000"/>
              </a:buClr>
              <a:buFont typeface="Arial" charset="0"/>
              <a:buChar char="•"/>
              <a:defRPr/>
            </a:pPr>
            <a:r>
              <a:rPr lang="en-US" sz="1000" dirty="0">
                <a:cs typeface="Arial" charset="0"/>
              </a:rPr>
              <a:t>Aerospace Engineering</a:t>
            </a:r>
          </a:p>
          <a:p>
            <a:pPr marL="183600" lvl="0" indent="-183600" eaLnBrk="0">
              <a:lnSpc>
                <a:spcPct val="90000"/>
              </a:lnSpc>
              <a:buClr>
                <a:srgbClr val="000000"/>
              </a:buClr>
              <a:buFont typeface="Arial" charset="0"/>
              <a:buChar char="•"/>
              <a:defRPr/>
            </a:pPr>
            <a:r>
              <a:rPr lang="en-US" sz="1000" dirty="0">
                <a:cs typeface="Arial" charset="0"/>
              </a:rPr>
              <a:t>Security Systems</a:t>
            </a:r>
          </a:p>
          <a:p>
            <a:pPr marL="183600" lvl="0" indent="-183600" eaLnBrk="0">
              <a:lnSpc>
                <a:spcPct val="90000"/>
              </a:lnSpc>
              <a:buClr>
                <a:srgbClr val="000000"/>
              </a:buClr>
              <a:buFont typeface="Arial" charset="0"/>
              <a:buChar char="•"/>
              <a:defRPr/>
            </a:pPr>
            <a:r>
              <a:rPr lang="en-US" sz="1000" dirty="0">
                <a:cs typeface="Arial" charset="0"/>
              </a:rPr>
              <a:t>Energy</a:t>
            </a:r>
          </a:p>
          <a:p>
            <a:pPr marL="183600" marR="0" lvl="0" indent="-183600" algn="l" defTabSz="914400" rtl="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charset="0"/>
              <a:buChar char="•"/>
              <a:tabLst/>
              <a:defRPr/>
            </a:pPr>
            <a:endParaRPr lang="en-US" sz="1000" dirty="0">
              <a:solidFill>
                <a:srgbClr val="000000"/>
              </a:solidFill>
              <a:latin typeface="Arial" panose="020B0604020202020204"/>
              <a:cs typeface="Arial" charset="0"/>
            </a:endParaRP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D9A163C9-B183-444F-9ED6-80949751E54C}"/>
              </a:ext>
            </a:extLst>
          </p:cNvPr>
          <p:cNvSpPr txBox="1">
            <a:spLocks/>
          </p:cNvSpPr>
          <p:nvPr/>
        </p:nvSpPr>
        <p:spPr>
          <a:xfrm>
            <a:off x="1747153" y="818283"/>
            <a:ext cx="2933701" cy="1452477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1734634" rtl="0" eaLnBrk="1" latinLnBrk="0" hangingPunct="1">
              <a:lnSpc>
                <a:spcPct val="90000"/>
              </a:lnSpc>
              <a:spcBef>
                <a:spcPts val="800"/>
              </a:spcBef>
              <a:buFont typeface="Arial" charset="0"/>
              <a:buNone/>
              <a:defRPr lang="en-US" sz="1800" b="1" i="0" kern="1200" cap="none" baseline="0" dirty="0" smtClean="0">
                <a:solidFill>
                  <a:schemeClr val="tx1"/>
                </a:solidFill>
                <a:latin typeface="+mn-lt"/>
                <a:ea typeface="Arial Black" charset="0"/>
                <a:cs typeface="Arial Black" charset="0"/>
              </a:defRPr>
            </a:lvl1pPr>
            <a:lvl2pPr marL="182875" indent="-182875" algn="l" defTabSz="1734634" rtl="0" eaLnBrk="1" latinLnBrk="0" hangingPunct="1">
              <a:lnSpc>
                <a:spcPct val="90000"/>
              </a:lnSpc>
              <a:spcBef>
                <a:spcPts val="800"/>
              </a:spcBef>
              <a:buFont typeface="Arial" charset="0"/>
              <a:buChar char="•"/>
              <a:defRPr lang="en-US" sz="1800" b="1" i="0" kern="1200" cap="none" baseline="0" dirty="0" smtClean="0">
                <a:solidFill>
                  <a:schemeClr val="tx1"/>
                </a:solidFill>
                <a:latin typeface="+mn-lt"/>
                <a:ea typeface="Arial Black" charset="0"/>
                <a:cs typeface="Arial Black" charset="0"/>
              </a:defRPr>
            </a:lvl2pPr>
            <a:lvl3pPr marL="365751" indent="-182875" algn="l" defTabSz="1734634" rtl="0" eaLnBrk="1" latinLnBrk="0" hangingPunct="1">
              <a:lnSpc>
                <a:spcPct val="90000"/>
              </a:lnSpc>
              <a:spcBef>
                <a:spcPts val="800"/>
              </a:spcBef>
              <a:buFont typeface="Arial" charset="0"/>
              <a:buChar char="•"/>
              <a:defRPr lang="en-US" sz="1800" b="1" i="0" kern="1200" cap="none" baseline="0" dirty="0" smtClean="0">
                <a:solidFill>
                  <a:schemeClr val="tx1"/>
                </a:solidFill>
                <a:latin typeface="+mn-lt"/>
                <a:ea typeface="Arial Black" charset="0"/>
                <a:cs typeface="Arial Black" charset="0"/>
              </a:defRPr>
            </a:lvl3pPr>
            <a:lvl4pPr marL="0" indent="0" algn="l" defTabSz="1734634" rtl="0" eaLnBrk="1" latinLnBrk="0" hangingPunct="1">
              <a:lnSpc>
                <a:spcPct val="90000"/>
              </a:lnSpc>
              <a:spcBef>
                <a:spcPts val="800"/>
              </a:spcBef>
              <a:buFont typeface="Arial" charset="0"/>
              <a:buNone/>
              <a:defRPr lang="en-US" sz="1800" b="0" i="0" kern="1200" cap="none" baseline="0" dirty="0" smtClean="0">
                <a:solidFill>
                  <a:schemeClr val="tx2"/>
                </a:solidFill>
                <a:latin typeface="+mn-lt"/>
                <a:ea typeface="Arial Black" charset="0"/>
                <a:cs typeface="Arial Black" charset="0"/>
              </a:defRPr>
            </a:lvl4pPr>
            <a:lvl5pPr marL="182875" indent="-182875" algn="l" defTabSz="1734634" rtl="0" eaLnBrk="1" latinLnBrk="0" hangingPunct="1">
              <a:lnSpc>
                <a:spcPct val="90000"/>
              </a:lnSpc>
              <a:spcBef>
                <a:spcPts val="800"/>
              </a:spcBef>
              <a:buFont typeface="Arial" charset="0"/>
              <a:buChar char="•"/>
              <a:defRPr lang="en-US" sz="1800" b="0" i="0" kern="1200" cap="none" baseline="0" dirty="0">
                <a:solidFill>
                  <a:schemeClr val="tx2"/>
                </a:solidFill>
                <a:latin typeface="+mn-lt"/>
                <a:ea typeface="Arial Black" charset="0"/>
                <a:cs typeface="Arial Black" charset="0"/>
              </a:defRPr>
            </a:lvl5pPr>
            <a:lvl6pPr marL="365751" indent="-182875" algn="l" defTabSz="1734634" rtl="0" eaLnBrk="1" latinLnBrk="0" hangingPunct="1">
              <a:lnSpc>
                <a:spcPct val="90000"/>
              </a:lnSpc>
              <a:spcBef>
                <a:spcPts val="800"/>
              </a:spcBef>
              <a:buFont typeface="Arial" charset="0"/>
              <a:buChar char="•"/>
              <a:defRPr sz="1800" b="0" i="0" kern="1200" cap="none" baseline="0">
                <a:solidFill>
                  <a:schemeClr val="tx2"/>
                </a:solidFill>
                <a:latin typeface="+mn-lt"/>
                <a:ea typeface="Arial Bold" charset="0"/>
                <a:cs typeface="Arial Bold" charset="0"/>
              </a:defRPr>
            </a:lvl6pPr>
            <a:lvl7pPr marL="0" indent="0" algn="l" defTabSz="1734634" rtl="0" eaLnBrk="1" latinLnBrk="0" hangingPunct="1">
              <a:lnSpc>
                <a:spcPct val="90000"/>
              </a:lnSpc>
              <a:spcBef>
                <a:spcPts val="800"/>
              </a:spcBef>
              <a:buFont typeface="Arial" charset="0"/>
              <a:buNone/>
              <a:defRPr sz="1867" b="1" i="0" kern="1200" cap="none" baseline="0">
                <a:solidFill>
                  <a:schemeClr val="tx1"/>
                </a:solidFill>
                <a:latin typeface="Arial Bold" charset="0"/>
                <a:ea typeface="Arial Bold" charset="0"/>
                <a:cs typeface="Arial Bold" charset="0"/>
              </a:defRPr>
            </a:lvl7pPr>
            <a:lvl8pPr marL="182875" indent="-182875" algn="l" defTabSz="1734634" rtl="0" eaLnBrk="1" latinLnBrk="0" hangingPunct="1">
              <a:lnSpc>
                <a:spcPct val="90000"/>
              </a:lnSpc>
              <a:spcBef>
                <a:spcPts val="800"/>
              </a:spcBef>
              <a:buFont typeface="Arial" charset="0"/>
              <a:buChar char="•"/>
              <a:defRPr sz="1867" b="1" i="0" kern="1200" cap="none" baseline="0">
                <a:solidFill>
                  <a:schemeClr val="tx1"/>
                </a:solidFill>
                <a:latin typeface="Arial Bold" charset="0"/>
                <a:ea typeface="Arial Bold" charset="0"/>
                <a:cs typeface="Arial Bold" charset="0"/>
              </a:defRPr>
            </a:lvl8pPr>
            <a:lvl9pPr marL="365751" indent="-182875" algn="l" defTabSz="1734634" rtl="0" eaLnBrk="1" latinLnBrk="0" hangingPunct="1">
              <a:lnSpc>
                <a:spcPct val="90000"/>
              </a:lnSpc>
              <a:spcBef>
                <a:spcPts val="800"/>
              </a:spcBef>
              <a:buFont typeface="Arial" charset="0"/>
              <a:buChar char="•"/>
              <a:defRPr sz="1867" b="1" i="0" kern="1200" cap="none" baseline="0">
                <a:solidFill>
                  <a:schemeClr val="tx1"/>
                </a:solidFill>
                <a:latin typeface="Arial Bold" charset="0"/>
                <a:ea typeface="Arial Black" charset="0"/>
                <a:cs typeface="Arial Black" charset="0"/>
              </a:defRPr>
            </a:lvl9pPr>
          </a:lstStyle>
          <a:p>
            <a:pPr lvl="0">
              <a:spcBef>
                <a:spcPts val="0"/>
              </a:spcBef>
              <a:spcAft>
                <a:spcPts val="300"/>
              </a:spcAft>
              <a:defRPr/>
            </a:pPr>
            <a:r>
              <a:rPr lang="en-US" sz="1600" dirty="0">
                <a:solidFill>
                  <a:srgbClr val="000000"/>
                </a:solidFill>
              </a:rPr>
              <a:t>Manuela </a:t>
            </a:r>
            <a:r>
              <a:rPr lang="en-US" sz="1600" dirty="0" err="1">
                <a:solidFill>
                  <a:srgbClr val="000000"/>
                </a:solidFill>
              </a:rPr>
              <a:t>Mustermann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rPr>
            </a:b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</a:endParaRPr>
          </a:p>
          <a:p>
            <a:pPr lvl="3">
              <a:lnSpc>
                <a:spcPct val="100000"/>
              </a:lnSpc>
              <a:spcBef>
                <a:spcPts val="0"/>
              </a:spcBef>
              <a:defRPr/>
            </a:pPr>
            <a:r>
              <a:rPr lang="nb-NO" sz="1100" dirty="0">
                <a:solidFill>
                  <a:srgbClr val="000000"/>
                </a:solidFill>
              </a:rPr>
              <a:t>Manuela@mycv.com 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75BF981C-E027-4021-9AB4-EE364478DB7A}"/>
              </a:ext>
            </a:extLst>
          </p:cNvPr>
          <p:cNvSpPr txBox="1">
            <a:spLocks/>
          </p:cNvSpPr>
          <p:nvPr/>
        </p:nvSpPr>
        <p:spPr>
          <a:xfrm>
            <a:off x="5026173" y="704868"/>
            <a:ext cx="7054851" cy="59675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734634" rtl="0" eaLnBrk="1" latinLnBrk="0" hangingPunct="1">
              <a:lnSpc>
                <a:spcPct val="90000"/>
              </a:lnSpc>
              <a:spcBef>
                <a:spcPts val="800"/>
              </a:spcBef>
              <a:buFont typeface="Arial" charset="0"/>
              <a:buNone/>
              <a:defRPr lang="en-US" sz="1800" b="1" i="0" kern="1200" cap="none" baseline="0" dirty="0" smtClean="0">
                <a:solidFill>
                  <a:schemeClr val="tx1"/>
                </a:solidFill>
                <a:latin typeface="+mn-lt"/>
                <a:ea typeface="Arial Black" charset="0"/>
                <a:cs typeface="Arial Black" charset="0"/>
              </a:defRPr>
            </a:lvl1pPr>
            <a:lvl2pPr marL="182875" indent="-182875" algn="l" defTabSz="1734634" rtl="0" eaLnBrk="1" latinLnBrk="0" hangingPunct="1">
              <a:lnSpc>
                <a:spcPct val="90000"/>
              </a:lnSpc>
              <a:spcBef>
                <a:spcPts val="800"/>
              </a:spcBef>
              <a:buFont typeface="Arial" charset="0"/>
              <a:buChar char="•"/>
              <a:defRPr lang="en-US" sz="1800" b="1" i="0" kern="1200" cap="none" baseline="0" dirty="0" smtClean="0">
                <a:solidFill>
                  <a:schemeClr val="tx1"/>
                </a:solidFill>
                <a:latin typeface="+mn-lt"/>
                <a:ea typeface="Arial Black" charset="0"/>
                <a:cs typeface="Arial Black" charset="0"/>
              </a:defRPr>
            </a:lvl2pPr>
            <a:lvl3pPr marL="365751" indent="-182875" algn="l" defTabSz="1734634" rtl="0" eaLnBrk="1" latinLnBrk="0" hangingPunct="1">
              <a:lnSpc>
                <a:spcPct val="90000"/>
              </a:lnSpc>
              <a:spcBef>
                <a:spcPts val="800"/>
              </a:spcBef>
              <a:buFont typeface="Arial" charset="0"/>
              <a:buChar char="•"/>
              <a:defRPr lang="en-US" sz="1800" b="1" i="0" kern="1200" cap="none" baseline="0" dirty="0" smtClean="0">
                <a:solidFill>
                  <a:schemeClr val="tx1"/>
                </a:solidFill>
                <a:latin typeface="+mn-lt"/>
                <a:ea typeface="Arial Black" charset="0"/>
                <a:cs typeface="Arial Black" charset="0"/>
              </a:defRPr>
            </a:lvl3pPr>
            <a:lvl4pPr marL="0" indent="0" algn="l" defTabSz="1734634" rtl="0" eaLnBrk="1" latinLnBrk="0" hangingPunct="1">
              <a:lnSpc>
                <a:spcPct val="90000"/>
              </a:lnSpc>
              <a:spcBef>
                <a:spcPts val="800"/>
              </a:spcBef>
              <a:buFont typeface="Arial" charset="0"/>
              <a:buNone/>
              <a:defRPr lang="en-US" sz="1800" b="0" i="0" kern="1200" cap="none" baseline="0" dirty="0" smtClean="0">
                <a:solidFill>
                  <a:schemeClr val="tx2"/>
                </a:solidFill>
                <a:latin typeface="+mn-lt"/>
                <a:ea typeface="Arial Black" charset="0"/>
                <a:cs typeface="Arial Black" charset="0"/>
              </a:defRPr>
            </a:lvl4pPr>
            <a:lvl5pPr marL="182875" indent="-182875" algn="l" defTabSz="1734634" rtl="0" eaLnBrk="1" latinLnBrk="0" hangingPunct="1">
              <a:lnSpc>
                <a:spcPct val="90000"/>
              </a:lnSpc>
              <a:spcBef>
                <a:spcPts val="800"/>
              </a:spcBef>
              <a:buFont typeface="Arial" charset="0"/>
              <a:buChar char="•"/>
              <a:defRPr lang="en-US" sz="1800" b="0" i="0" kern="1200" cap="none" baseline="0" dirty="0">
                <a:solidFill>
                  <a:schemeClr val="tx2"/>
                </a:solidFill>
                <a:latin typeface="+mn-lt"/>
                <a:ea typeface="Arial Black" charset="0"/>
                <a:cs typeface="Arial Black" charset="0"/>
              </a:defRPr>
            </a:lvl5pPr>
            <a:lvl6pPr marL="365751" indent="-182875" algn="l" defTabSz="1734634" rtl="0" eaLnBrk="1" latinLnBrk="0" hangingPunct="1">
              <a:lnSpc>
                <a:spcPct val="90000"/>
              </a:lnSpc>
              <a:spcBef>
                <a:spcPts val="800"/>
              </a:spcBef>
              <a:buFont typeface="Arial" charset="0"/>
              <a:buChar char="•"/>
              <a:defRPr sz="1800" b="0" i="0" kern="1200" cap="none" baseline="0">
                <a:solidFill>
                  <a:schemeClr val="tx2"/>
                </a:solidFill>
                <a:latin typeface="+mn-lt"/>
                <a:ea typeface="Arial Bold" charset="0"/>
                <a:cs typeface="Arial Bold" charset="0"/>
              </a:defRPr>
            </a:lvl6pPr>
            <a:lvl7pPr marL="0" indent="0" algn="l" defTabSz="1734634" rtl="0" eaLnBrk="1" latinLnBrk="0" hangingPunct="1">
              <a:lnSpc>
                <a:spcPct val="90000"/>
              </a:lnSpc>
              <a:spcBef>
                <a:spcPts val="800"/>
              </a:spcBef>
              <a:buFont typeface="Arial" charset="0"/>
              <a:buNone/>
              <a:defRPr sz="1867" b="1" i="0" kern="1200" cap="none" baseline="0">
                <a:solidFill>
                  <a:schemeClr val="tx1"/>
                </a:solidFill>
                <a:latin typeface="Arial Bold" charset="0"/>
                <a:ea typeface="Arial Bold" charset="0"/>
                <a:cs typeface="Arial Bold" charset="0"/>
              </a:defRPr>
            </a:lvl7pPr>
            <a:lvl8pPr marL="182875" indent="-182875" algn="l" defTabSz="1734634" rtl="0" eaLnBrk="1" latinLnBrk="0" hangingPunct="1">
              <a:lnSpc>
                <a:spcPct val="90000"/>
              </a:lnSpc>
              <a:spcBef>
                <a:spcPts val="800"/>
              </a:spcBef>
              <a:buFont typeface="Arial" charset="0"/>
              <a:buChar char="•"/>
              <a:defRPr sz="1867" b="1" i="0" kern="1200" cap="none" baseline="0">
                <a:solidFill>
                  <a:schemeClr val="tx1"/>
                </a:solidFill>
                <a:latin typeface="Arial Bold" charset="0"/>
                <a:ea typeface="Arial Bold" charset="0"/>
                <a:cs typeface="Arial Bold" charset="0"/>
              </a:defRPr>
            </a:lvl8pPr>
            <a:lvl9pPr marL="365751" indent="-182875" algn="l" defTabSz="1734634" rtl="0" eaLnBrk="1" latinLnBrk="0" hangingPunct="1">
              <a:lnSpc>
                <a:spcPct val="90000"/>
              </a:lnSpc>
              <a:spcBef>
                <a:spcPts val="800"/>
              </a:spcBef>
              <a:buFont typeface="Arial" charset="0"/>
              <a:buChar char="•"/>
              <a:defRPr sz="1867" b="1" i="0" kern="1200" cap="none" baseline="0">
                <a:solidFill>
                  <a:schemeClr val="tx1"/>
                </a:solidFill>
                <a:latin typeface="Arial Bold" charset="0"/>
                <a:ea typeface="Arial Black" charset="0"/>
                <a:cs typeface="Arial Black" charset="0"/>
              </a:defRPr>
            </a:lvl9pPr>
          </a:lstStyle>
          <a:p>
            <a:pPr marL="0" marR="0" lvl="0" indent="0" algn="l" defTabSz="173463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GB" sz="1000" b="1" i="0" u="none" strike="noStrike" kern="1200" cap="all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Arial" panose="020B0604020202020204"/>
              </a:rPr>
              <a:t>Job Experience</a:t>
            </a:r>
          </a:p>
          <a:p>
            <a:pPr marL="0" lvl="1" indent="0" defTabSz="914400" eaLnBrk="0" fontAlgn="base" hangingPunct="0">
              <a:lnSpc>
                <a:spcPct val="95000"/>
              </a:lnSpc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defRPr/>
            </a:pPr>
            <a:r>
              <a:rPr lang="en-GB" altLang="zh-SG" sz="1000" dirty="0">
                <a:solidFill>
                  <a:srgbClr val="7500C0"/>
                </a:solidFill>
              </a:rPr>
              <a:t>International Manufacturer of Smart Energy Meters (02/2023 – Current)</a:t>
            </a:r>
          </a:p>
          <a:p>
            <a:pPr marL="0" lvl="1" indent="0" defTabSz="914400" eaLnBrk="0" fontAlgn="base" hangingPunct="0">
              <a:lnSpc>
                <a:spcPct val="95000"/>
              </a:lnSpc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defRPr/>
            </a:pPr>
            <a:r>
              <a:rPr lang="en-US" sz="1000" b="0" dirty="0">
                <a:solidFill>
                  <a:srgbClr val="7500C0"/>
                </a:solidFill>
              </a:rPr>
              <a:t>Software Architect / Team Lead</a:t>
            </a:r>
            <a:endParaRPr lang="en-US" sz="1000" b="0" dirty="0">
              <a:solidFill>
                <a:srgbClr val="000000"/>
              </a:solidFill>
            </a:endParaRPr>
          </a:p>
          <a:p>
            <a:pPr lvl="1" defTabSz="914400" eaLnBrk="0" fontAlgn="base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000000"/>
              </a:buClr>
              <a:buSzPct val="100000"/>
              <a:tabLst>
                <a:tab pos="457200" algn="l"/>
              </a:tabLst>
              <a:defRPr/>
            </a:pPr>
            <a:r>
              <a:rPr lang="en-US" sz="1000" b="0" dirty="0">
                <a:solidFill>
                  <a:srgbClr val="000000"/>
                </a:solidFill>
              </a:rPr>
              <a:t>Design and Implementation of a new release for a device management platform used with the NA customers, and inside which features of an equivalent EMEA platform will be ported and integrated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000000"/>
              </a:buClr>
              <a:buSzPct val="100000"/>
              <a:tabLst>
                <a:tab pos="457200" algn="l"/>
              </a:tabLst>
              <a:defRPr/>
            </a:pPr>
            <a:r>
              <a:rPr lang="en-US" sz="1000" b="0" dirty="0">
                <a:solidFill>
                  <a:srgbClr val="000000"/>
                </a:solidFill>
              </a:rPr>
              <a:t>Analysis and understanding of the different communication services and protocols used between the platform and the devices. Development of POCs and document the solutions and design decisions taken as outcomes.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000000"/>
              </a:buClr>
              <a:buSzPct val="100000"/>
              <a:tabLst>
                <a:tab pos="457200" algn="l"/>
              </a:tabLst>
              <a:defRPr/>
            </a:pPr>
            <a:r>
              <a:rPr lang="en-US" sz="1000" b="0" dirty="0">
                <a:solidFill>
                  <a:srgbClr val="000000"/>
                </a:solidFill>
              </a:rPr>
              <a:t>Transit from the Design Phase to the Implementation Phase and deliver all the solutions that were designed.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000000"/>
              </a:buClr>
              <a:buSzPct val="100000"/>
              <a:tabLst>
                <a:tab pos="457200" algn="l"/>
              </a:tabLst>
              <a:defRPr/>
            </a:pPr>
            <a:r>
              <a:rPr lang="en-US" sz="1000" b="0" dirty="0">
                <a:solidFill>
                  <a:srgbClr val="000000"/>
                </a:solidFill>
              </a:rPr>
              <a:t>Technologies &amp; skills involved : Angular, Java, C#, Software Architecture, Design Decisions, Smart Metering Devices, Communication Protocols and Team Leading</a:t>
            </a:r>
            <a:endParaRPr lang="en-GB" sz="1000" b="0" dirty="0">
              <a:solidFill>
                <a:srgbClr val="7500C0"/>
              </a:solidFill>
            </a:endParaRPr>
          </a:p>
          <a:p>
            <a:pPr marL="0" lvl="1" indent="0" defTabSz="914400" eaLnBrk="0" fontAlgn="base" hangingPunct="0">
              <a:lnSpc>
                <a:spcPct val="95000"/>
              </a:lnSpc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defRPr/>
            </a:pPr>
            <a:endParaRPr lang="en-GB" altLang="zh-SG" sz="1000" dirty="0">
              <a:solidFill>
                <a:srgbClr val="7500C0"/>
              </a:solidFill>
            </a:endParaRPr>
          </a:p>
          <a:p>
            <a:pPr marL="0" lvl="1" indent="0" defTabSz="914400" eaLnBrk="0" fontAlgn="base" hangingPunct="0">
              <a:lnSpc>
                <a:spcPct val="95000"/>
              </a:lnSpc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defRPr/>
            </a:pPr>
            <a:r>
              <a:rPr lang="en-GB" altLang="zh-SG" sz="1000" dirty="0">
                <a:solidFill>
                  <a:srgbClr val="7500C0"/>
                </a:solidFill>
              </a:rPr>
              <a:t>Major Swiss Bank, Zürich: Custom Wealth Management Platform (01/2022 – 01/2023)</a:t>
            </a:r>
          </a:p>
          <a:p>
            <a:pPr marL="0" lvl="1" indent="0" defTabSz="914400" eaLnBrk="0" fontAlgn="base" hangingPunct="0">
              <a:lnSpc>
                <a:spcPct val="95000"/>
              </a:lnSpc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defRPr/>
            </a:pPr>
            <a:r>
              <a:rPr lang="en-US" sz="1000" b="0" dirty="0">
                <a:solidFill>
                  <a:srgbClr val="7500C0"/>
                </a:solidFill>
              </a:rPr>
              <a:t>Technical Lead / Full-Stack Developer</a:t>
            </a:r>
            <a:endParaRPr lang="en-US" sz="1000" b="0" dirty="0">
              <a:solidFill>
                <a:srgbClr val="000000"/>
              </a:solidFill>
            </a:endParaRPr>
          </a:p>
          <a:p>
            <a:pPr lvl="1" defTabSz="914400" eaLnBrk="0" fontAlgn="base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000000"/>
              </a:buClr>
              <a:buSzPct val="100000"/>
              <a:tabLst>
                <a:tab pos="457200" algn="l"/>
              </a:tabLst>
              <a:defRPr/>
            </a:pPr>
            <a:r>
              <a:rPr lang="en-US" sz="1000" b="0" dirty="0">
                <a:solidFill>
                  <a:srgbClr val="000000"/>
                </a:solidFill>
              </a:rPr>
              <a:t>Development of a Full-Stack application designed as a wealth management platform for private clients of the bank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000000"/>
              </a:buClr>
              <a:buSzPct val="100000"/>
              <a:tabLst>
                <a:tab pos="457200" algn="l"/>
              </a:tabLst>
              <a:defRPr/>
            </a:pPr>
            <a:r>
              <a:rPr lang="en-US" sz="1000" b="0" dirty="0">
                <a:solidFill>
                  <a:srgbClr val="000000"/>
                </a:solidFill>
              </a:rPr>
              <a:t>Analysis and understanding of the financial processes involved in Wealth Management in order to create algorithms and features for the application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000000"/>
              </a:buClr>
              <a:buSzPct val="100000"/>
              <a:tabLst>
                <a:tab pos="457200" algn="l"/>
              </a:tabLst>
              <a:defRPr/>
            </a:pPr>
            <a:r>
              <a:rPr lang="en-US" sz="1000" b="0" dirty="0">
                <a:solidFill>
                  <a:srgbClr val="000000"/>
                </a:solidFill>
              </a:rPr>
              <a:t>Facilitate communication between BE and FE developers and help with solution design and planning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000000"/>
              </a:buClr>
              <a:buSzPct val="100000"/>
              <a:tabLst>
                <a:tab pos="457200" algn="l"/>
              </a:tabLst>
              <a:defRPr/>
            </a:pPr>
            <a:r>
              <a:rPr lang="en-US" sz="1000" b="0" dirty="0">
                <a:solidFill>
                  <a:srgbClr val="000000"/>
                </a:solidFill>
              </a:rPr>
              <a:t>Technologies &amp; skills involved : Java, </a:t>
            </a:r>
            <a:r>
              <a:rPr lang="en-US" sz="1000" b="0" dirty="0" err="1">
                <a:solidFill>
                  <a:srgbClr val="000000"/>
                </a:solidFill>
              </a:rPr>
              <a:t>SpringBoot</a:t>
            </a:r>
            <a:r>
              <a:rPr lang="en-US" sz="1000" b="0" dirty="0">
                <a:solidFill>
                  <a:srgbClr val="000000"/>
                </a:solidFill>
              </a:rPr>
              <a:t>, Typescript, Angular, GIT, </a:t>
            </a:r>
            <a:r>
              <a:rPr lang="en-US" sz="1000" b="0" dirty="0" err="1">
                <a:solidFill>
                  <a:srgbClr val="000000"/>
                </a:solidFill>
              </a:rPr>
              <a:t>OracleDB</a:t>
            </a:r>
            <a:r>
              <a:rPr lang="en-US" sz="1000" b="0" dirty="0">
                <a:solidFill>
                  <a:srgbClr val="000000"/>
                </a:solidFill>
              </a:rPr>
              <a:t>, Software Architecture, Financial Algorithms and DevOps Administration(</a:t>
            </a:r>
            <a:r>
              <a:rPr lang="en-US" sz="1000" b="0" dirty="0" err="1">
                <a:solidFill>
                  <a:srgbClr val="000000"/>
                </a:solidFill>
              </a:rPr>
              <a:t>Openshift</a:t>
            </a:r>
            <a:r>
              <a:rPr lang="en-US" sz="1000" b="0" dirty="0">
                <a:solidFill>
                  <a:srgbClr val="000000"/>
                </a:solidFill>
              </a:rPr>
              <a:t>, Jenkins)</a:t>
            </a:r>
            <a:endParaRPr lang="en-GB" sz="1000" b="0" dirty="0">
              <a:solidFill>
                <a:srgbClr val="7500C0"/>
              </a:solidFill>
            </a:endParaRPr>
          </a:p>
          <a:p>
            <a:pPr lvl="1" defTabSz="914400" eaLnBrk="0" fontAlgn="base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000000"/>
              </a:buClr>
              <a:buSzPct val="100000"/>
              <a:tabLst>
                <a:tab pos="457200" algn="l"/>
              </a:tabLst>
              <a:defRPr/>
            </a:pPr>
            <a:endParaRPr lang="en-GB" altLang="zh-SG" sz="1000" b="0" dirty="0">
              <a:solidFill>
                <a:srgbClr val="7500C0"/>
              </a:solidFill>
            </a:endParaRPr>
          </a:p>
          <a:p>
            <a:pPr marL="0" lvl="1" indent="0" defTabSz="914400" eaLnBrk="0" fontAlgn="base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>
                <a:tab pos="457200" algn="l"/>
              </a:tabLst>
              <a:defRPr/>
            </a:pPr>
            <a:r>
              <a:rPr lang="en-GB" altLang="zh-SG" sz="1000" dirty="0">
                <a:solidFill>
                  <a:srgbClr val="7500C0"/>
                </a:solidFill>
              </a:rPr>
              <a:t>German Premium Insurance Provider (June 2021 – Nov 2021)</a:t>
            </a:r>
          </a:p>
          <a:p>
            <a:pPr marL="0" lvl="1" indent="0" defTabSz="914400" eaLnBrk="0" fontAlgn="base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>
                <a:tab pos="457200" algn="l"/>
              </a:tabLst>
              <a:defRPr/>
            </a:pPr>
            <a:r>
              <a:rPr lang="en-GB" altLang="zh-SG" sz="1000" b="0" dirty="0">
                <a:solidFill>
                  <a:srgbClr val="7500C0"/>
                </a:solidFill>
              </a:rPr>
              <a:t>Full-Stack Developer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000000"/>
              </a:buClr>
              <a:buSzPct val="100000"/>
              <a:tabLst>
                <a:tab pos="457200" algn="l"/>
              </a:tabLst>
              <a:defRPr/>
            </a:pPr>
            <a:r>
              <a:rPr lang="en-US" sz="1000" b="0" dirty="0">
                <a:solidFill>
                  <a:srgbClr val="000000"/>
                </a:solidFill>
              </a:rPr>
              <a:t>Development of a cloud-native Full-Stack platform that manages insurance contracts and related documents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000000"/>
              </a:buClr>
              <a:buSzPct val="100000"/>
              <a:tabLst>
                <a:tab pos="457200" algn="l"/>
              </a:tabLst>
              <a:defRPr/>
            </a:pPr>
            <a:r>
              <a:rPr lang="en-US" sz="1000" b="0" dirty="0">
                <a:solidFill>
                  <a:srgbClr val="000000"/>
                </a:solidFill>
              </a:rPr>
              <a:t>Analysis of the whole functional process for creating, approving and releasing an insurance contract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000000"/>
              </a:buClr>
              <a:buSzPct val="100000"/>
              <a:tabLst>
                <a:tab pos="457200" algn="l"/>
              </a:tabLst>
              <a:defRPr/>
            </a:pPr>
            <a:r>
              <a:rPr lang="en-US" sz="1000" b="0" dirty="0">
                <a:solidFill>
                  <a:srgbClr val="000000"/>
                </a:solidFill>
              </a:rPr>
              <a:t>Technologies &amp; skills involved : Typescript, Angular, Express, Networking, GIT, MySQL</a:t>
            </a:r>
            <a:r>
              <a:rPr lang="en-US" sz="1000" b="0">
                <a:solidFill>
                  <a:srgbClr val="000000"/>
                </a:solidFill>
              </a:rPr>
              <a:t>, Software </a:t>
            </a:r>
            <a:r>
              <a:rPr lang="en-US" sz="1000" b="0" dirty="0">
                <a:solidFill>
                  <a:srgbClr val="000000"/>
                </a:solidFill>
              </a:rPr>
              <a:t>Architecture and Cloud-first Development</a:t>
            </a:r>
          </a:p>
          <a:p>
            <a:pPr marL="0" lvl="1" indent="0" defTabSz="914400" eaLnBrk="0" fontAlgn="base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>
                <a:tab pos="457200" algn="l"/>
              </a:tabLst>
              <a:defRPr/>
            </a:pPr>
            <a:endParaRPr lang="en-GB" sz="1000" b="0" dirty="0">
              <a:solidFill>
                <a:srgbClr val="000000"/>
              </a:solidFill>
            </a:endParaRPr>
          </a:p>
          <a:p>
            <a:pPr marL="0" lvl="1" indent="0" defTabSz="914400" eaLnBrk="0" fontAlgn="base" hangingPunct="0">
              <a:lnSpc>
                <a:spcPct val="95000"/>
              </a:lnSpc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defRPr/>
            </a:pPr>
            <a:r>
              <a:rPr lang="en-US" altLang="zh-SG" sz="1000" dirty="0">
                <a:solidFill>
                  <a:srgbClr val="7500C0"/>
                </a:solidFill>
              </a:rPr>
              <a:t>French Premium Aerospace Manufacturer (Mars 2020 – Nov 2020)</a:t>
            </a:r>
          </a:p>
          <a:p>
            <a:pPr marL="0" marR="0" lvl="1" indent="0" algn="l" defTabSz="914400" rtl="0" eaLnBrk="0" fontAlgn="base" latinLnBrk="0" hangingPunct="0">
              <a:lnSpc>
                <a:spcPct val="95000"/>
              </a:lnSpc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  <a:defRPr/>
            </a:pPr>
            <a:r>
              <a:rPr lang="en-GB" sz="1000" b="0" dirty="0">
                <a:solidFill>
                  <a:srgbClr val="7500C0"/>
                </a:solidFill>
                <a:latin typeface="Arial" panose="020B0604020202020204"/>
              </a:rPr>
              <a:t>Full-Stack Developer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000000"/>
              </a:buClr>
              <a:buSzPct val="100000"/>
              <a:tabLst>
                <a:tab pos="457200" algn="l"/>
              </a:tabLst>
              <a:defRPr/>
            </a:pPr>
            <a:r>
              <a:rPr lang="en-US" sz="1000" b="0" dirty="0">
                <a:solidFill>
                  <a:srgbClr val="000000"/>
                </a:solidFill>
              </a:rPr>
              <a:t>Modular web application developed for a premium </a:t>
            </a:r>
            <a:r>
              <a:rPr lang="en-US" sz="1000" b="0" dirty="0" err="1">
                <a:solidFill>
                  <a:srgbClr val="000000"/>
                </a:solidFill>
              </a:rPr>
              <a:t>french</a:t>
            </a:r>
            <a:r>
              <a:rPr lang="en-US" sz="1000" b="0" dirty="0">
                <a:solidFill>
                  <a:srgbClr val="000000"/>
                </a:solidFill>
              </a:rPr>
              <a:t> aerospace manufacturer with the scope of performing harmonization and management actions on different military aircrafts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000000"/>
              </a:buClr>
              <a:buSzPct val="100000"/>
              <a:tabLst>
                <a:tab pos="457200" algn="l"/>
              </a:tabLst>
              <a:defRPr/>
            </a:pPr>
            <a:r>
              <a:rPr lang="en-US" sz="1000" b="0" dirty="0">
                <a:solidFill>
                  <a:srgbClr val="000000"/>
                </a:solidFill>
              </a:rPr>
              <a:t>Developed a Full-Stack server application that facilitated the communication between multiple C++ auxiliary modules 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000000"/>
              </a:buClr>
              <a:buSzPct val="100000"/>
              <a:tabLst>
                <a:tab pos="457200" algn="l"/>
              </a:tabLst>
              <a:defRPr/>
            </a:pPr>
            <a:r>
              <a:rPr lang="en-US" sz="1000" b="0" dirty="0">
                <a:solidFill>
                  <a:srgbClr val="000000"/>
                </a:solidFill>
              </a:rPr>
              <a:t>Design and implementation of the graphical interface used to perform monitoring functionalities on the aircrafts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000000"/>
              </a:buClr>
              <a:buSzPct val="100000"/>
              <a:tabLst>
                <a:tab pos="457200" algn="l"/>
              </a:tabLst>
              <a:defRPr/>
            </a:pPr>
            <a:r>
              <a:rPr lang="en-US" sz="1000" b="0" dirty="0">
                <a:solidFill>
                  <a:srgbClr val="000000"/>
                </a:solidFill>
              </a:rPr>
              <a:t>Technologies &amp; skills involved : Java, Spring Boot, Angular, GIT, MySQL, Software Architecture, Networking </a:t>
            </a:r>
          </a:p>
          <a:p>
            <a:pPr marL="176400" lvl="1" indent="-176400" defTabSz="914400" eaLnBrk="0" fontAlgn="base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endParaRPr lang="en-GB" sz="1000" b="0" dirty="0">
              <a:solidFill>
                <a:srgbClr val="000000"/>
              </a:solidFill>
            </a:endParaRPr>
          </a:p>
          <a:p>
            <a:pPr lvl="1" defTabSz="914400" eaLnBrk="0" fontAlgn="base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000000"/>
              </a:buClr>
              <a:buSzPct val="100000"/>
              <a:tabLst>
                <a:tab pos="457200" algn="l"/>
              </a:tabLst>
              <a:defRPr/>
            </a:pPr>
            <a:endParaRPr lang="en-GB" altLang="zh-SG" sz="1000" b="0" dirty="0">
              <a:solidFill>
                <a:srgbClr val="00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8EBB9A-3EA7-45DB-A0A1-5E03A50A6D64}"/>
              </a:ext>
            </a:extLst>
          </p:cNvPr>
          <p:cNvSpPr/>
          <p:nvPr/>
        </p:nvSpPr>
        <p:spPr>
          <a:xfrm>
            <a:off x="7849989" y="0"/>
            <a:ext cx="2160060" cy="210843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Availability to be confirmed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00939000-4FBE-FF45-BA22-2F6591E70B1A}"/>
              </a:ext>
            </a:extLst>
          </p:cNvPr>
          <p:cNvSpPr txBox="1">
            <a:spLocks/>
          </p:cNvSpPr>
          <p:nvPr/>
        </p:nvSpPr>
        <p:spPr>
          <a:xfrm>
            <a:off x="2975924" y="4646025"/>
            <a:ext cx="1877590" cy="1568780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numCol="1" spcCol="18000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734634">
              <a:lnSpc>
                <a:spcPct val="90000"/>
              </a:lnSpc>
              <a:spcAft>
                <a:spcPts val="800"/>
              </a:spcAft>
              <a:defRPr/>
            </a:pPr>
            <a:r>
              <a:rPr lang="en-US" sz="1100" b="1" cap="all" dirty="0">
                <a:solidFill>
                  <a:srgbClr val="A100FF"/>
                </a:solidFill>
              </a:rPr>
              <a:t>CERTIFICATIONS</a:t>
            </a:r>
            <a:endParaRPr kumimoji="0" lang="en-US" sz="1100" b="1" i="0" u="none" strike="noStrike" kern="1200" cap="all" spc="0" normalizeH="0" baseline="0" noProof="0" dirty="0">
              <a:ln>
                <a:noFill/>
              </a:ln>
              <a:solidFill>
                <a:srgbClr val="A100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83600" lvl="0" indent="-183600" eaLnBrk="0">
              <a:lnSpc>
                <a:spcPct val="90000"/>
              </a:lnSpc>
              <a:buClr>
                <a:srgbClr val="000000"/>
              </a:buClr>
              <a:buFont typeface="Arial" charset="0"/>
              <a:buChar char="•"/>
              <a:defRPr/>
            </a:pPr>
            <a:r>
              <a:rPr lang="en-US" sz="1000" dirty="0">
                <a:cs typeface="Arial" charset="0"/>
              </a:rPr>
              <a:t>AWS Certified Cloud Practitioner</a:t>
            </a:r>
          </a:p>
          <a:p>
            <a:pPr marL="183600" lvl="0" indent="-183600" eaLnBrk="0">
              <a:lnSpc>
                <a:spcPct val="90000"/>
              </a:lnSpc>
              <a:buClr>
                <a:srgbClr val="000000"/>
              </a:buClr>
              <a:buFont typeface="Arial" charset="0"/>
              <a:buChar char="•"/>
              <a:defRPr/>
            </a:pPr>
            <a:r>
              <a:rPr lang="en-US" sz="1000" dirty="0">
                <a:cs typeface="Arial" charset="0"/>
              </a:rPr>
              <a:t>Graduate Engineering Program – International Consultant</a:t>
            </a:r>
          </a:p>
          <a:p>
            <a:pPr marL="182875" marR="0" lvl="4" indent="-182875" algn="l" defTabSz="173463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8" name="Picture Placeholder 11">
            <a:extLst>
              <a:ext uri="{FF2B5EF4-FFF2-40B4-BE49-F238E27FC236}">
                <a16:creationId xmlns:a16="http://schemas.microsoft.com/office/drawing/2014/main" id="{ACC453A0-1BAD-4BCF-B25F-9A00ABDE35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13" r="8713"/>
          <a:stretch>
            <a:fillRect/>
          </a:stretch>
        </p:blipFill>
        <p:spPr>
          <a:xfrm>
            <a:off x="356756" y="704868"/>
            <a:ext cx="1271698" cy="1539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0692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16-3406 Accenture Security Template 16x9">
  <a:themeElements>
    <a:clrScheme name="Acc Consulting">
      <a:dk1>
        <a:srgbClr val="000000"/>
      </a:dk1>
      <a:lt1>
        <a:srgbClr val="FFFFFF"/>
      </a:lt1>
      <a:dk2>
        <a:srgbClr val="919191"/>
      </a:dk2>
      <a:lt2>
        <a:srgbClr val="6C6C6C"/>
      </a:lt2>
      <a:accent1>
        <a:srgbClr val="A100FF"/>
      </a:accent1>
      <a:accent2>
        <a:srgbClr val="7E00FF"/>
      </a:accent2>
      <a:accent3>
        <a:srgbClr val="00F3FF"/>
      </a:accent3>
      <a:accent4>
        <a:srgbClr val="7500C0"/>
      </a:accent4>
      <a:accent5>
        <a:srgbClr val="5F0095"/>
      </a:accent5>
      <a:accent6>
        <a:srgbClr val="380089"/>
      </a:accent6>
      <a:hlink>
        <a:srgbClr val="7C7C7C"/>
      </a:hlink>
      <a:folHlink>
        <a:srgbClr val="A9A9A9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  <a:effectLst/>
      </a:spPr>
      <a:bodyPr anchor="ctr"/>
      <a:lstStyle>
        <a:defPPr algn="ctr">
          <a:defRPr dirty="0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>
        <a:noAutofit/>
      </a:bodyPr>
      <a:lstStyle>
        <a:defPPr>
          <a:defRPr dirty="0" err="1"/>
        </a:defPPr>
      </a:lstStyle>
    </a:txDef>
  </a:objectDefaults>
  <a:extraClrSchemeLst/>
  <a:extLst>
    <a:ext uri="{05A4C25C-085E-4340-85A3-A5531E510DB2}">
      <thm15:themeFamily xmlns:thm15="http://schemas.microsoft.com/office/thememl/2012/main" name="Acc_NEW_Template16x9_080217.potx" id="{D984459F-8CEA-47B9-9CAE-35A7900C4F60}" vid="{FB3843C2-9C29-46E6-85EC-57083784382C}"/>
    </a:ext>
  </a:extLst>
</a:theme>
</file>

<file path=ppt/theme/theme2.xml><?xml version="1.0" encoding="utf-8"?>
<a:theme xmlns:a="http://schemas.openxmlformats.org/drawingml/2006/main" name="16-3406 Accenture Security Template 16x9">
  <a:themeElements>
    <a:clrScheme name="Acc Consulting">
      <a:dk1>
        <a:srgbClr val="000000"/>
      </a:dk1>
      <a:lt1>
        <a:srgbClr val="FFFFFF"/>
      </a:lt1>
      <a:dk2>
        <a:srgbClr val="919191"/>
      </a:dk2>
      <a:lt2>
        <a:srgbClr val="6C6C6C"/>
      </a:lt2>
      <a:accent1>
        <a:srgbClr val="A100FF"/>
      </a:accent1>
      <a:accent2>
        <a:srgbClr val="7E00FF"/>
      </a:accent2>
      <a:accent3>
        <a:srgbClr val="00F3FF"/>
      </a:accent3>
      <a:accent4>
        <a:srgbClr val="7500C0"/>
      </a:accent4>
      <a:accent5>
        <a:srgbClr val="5F0095"/>
      </a:accent5>
      <a:accent6>
        <a:srgbClr val="380089"/>
      </a:accent6>
      <a:hlink>
        <a:srgbClr val="7C7C7C"/>
      </a:hlink>
      <a:folHlink>
        <a:srgbClr val="A9A9A9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  <a:effectLst/>
      </a:spPr>
      <a:bodyPr anchor="ctr"/>
      <a:lstStyle>
        <a:defPPr algn="ctr">
          <a:defRPr dirty="0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>
        <a:noAutofit/>
      </a:bodyPr>
      <a:lstStyle>
        <a:defPPr>
          <a:defRPr dirty="0" err="1"/>
        </a:defPPr>
      </a:lstStyle>
    </a:txDef>
  </a:objectDefaults>
  <a:extraClrSchemeLst/>
  <a:extLst>
    <a:ext uri="{05A4C25C-085E-4340-85A3-A5531E510DB2}">
      <thm15:themeFamily xmlns:thm15="http://schemas.microsoft.com/office/thememl/2012/main" name="Acc_NEW_Template16x9_080217.potx" id="{D984459F-8CEA-47B9-9CAE-35A7900C4F60}" vid="{FB3843C2-9C29-46E6-85EC-57083784382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F3436043D61246B67E605CC922B08E" ma:contentTypeVersion="2" ma:contentTypeDescription="Create a new document." ma:contentTypeScope="" ma:versionID="41473f217aff841da62342f44f74248d">
  <xsd:schema xmlns:xsd="http://www.w3.org/2001/XMLSchema" xmlns:xs="http://www.w3.org/2001/XMLSchema" xmlns:p="http://schemas.microsoft.com/office/2006/metadata/properties" xmlns:ns2="95715895-8076-4bbd-9ba0-aa8841271de4" targetNamespace="http://schemas.microsoft.com/office/2006/metadata/properties" ma:root="true" ma:fieldsID="936ffe478688cf4c199cd551ee77ae85" ns2:_="">
    <xsd:import namespace="95715895-8076-4bbd-9ba0-aa8841271d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715895-8076-4bbd-9ba0-aa8841271d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9980F30-F692-4172-A571-CE17EA5599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5715895-8076-4bbd-9ba0-aa8841271d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452EE96-CF80-4A6C-8C37-92FB5547A7F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C7ED654-8D6A-4A05-B245-24B50DBBCC44}">
  <ds:schemaRefs>
    <ds:schemaRef ds:uri="http://purl.org/dc/dcmitype/"/>
    <ds:schemaRef ds:uri="95715895-8076-4bbd-9ba0-aa8841271de4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www.w3.org/XML/1998/namespace"/>
    <ds:schemaRef ds:uri="http://schemas.microsoft.com/office/infopath/2007/PartnerControls"/>
    <ds:schemaRef ds:uri="http://schemas.openxmlformats.org/package/2006/metadata/core-propertie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Acc_NEW_Template16x9_080217</Template>
  <TotalTime>282</TotalTime>
  <Words>575</Words>
  <Application>Microsoft Office PowerPoint</Application>
  <PresentationFormat>Widescreen</PresentationFormat>
  <Paragraphs>56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Black</vt:lpstr>
      <vt:lpstr>Arial Bold</vt:lpstr>
      <vt:lpstr>1_16-3406 Accenture Security Template 16x9</vt:lpstr>
      <vt:lpstr>16-3406 Accenture Security Template 16x9</vt:lpstr>
      <vt:lpstr>think-cell Slide</vt:lpstr>
      <vt:lpstr>Manuela Mustermann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Compliance TMTP</dc:title>
  <dc:creator>Etrati, Anita</dc:creator>
  <cp:lastModifiedBy>Mauquoi, Cédric</cp:lastModifiedBy>
  <cp:revision>429</cp:revision>
  <cp:lastPrinted>2017-11-27T19:28:14Z</cp:lastPrinted>
  <dcterms:created xsi:type="dcterms:W3CDTF">2017-02-14T05:51:51Z</dcterms:created>
  <dcterms:modified xsi:type="dcterms:W3CDTF">2026-09-29T12:35:41Z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UserName">
    <vt:lpwstr>lmcmanus</vt:lpwstr>
  </property>
  <property fmtid="{D5CDD505-2E9C-101B-9397-08002B2CF9AE}" pid="3" name="ComputerName">
    <vt:lpwstr>DLOADMIN</vt:lpwstr>
  </property>
  <property fmtid="{D5CDD505-2E9C-101B-9397-08002B2CF9AE}" pid="4" name="ContentTypeId">
    <vt:lpwstr>0x0101008BF3436043D61246B67E605CC922B08E</vt:lpwstr>
  </property>
</Properties>
</file>